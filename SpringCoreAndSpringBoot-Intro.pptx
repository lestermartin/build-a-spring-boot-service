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8FD1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INTRODUCTION FOR JAVA DEVELOPERS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12800" y="121409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6DB33F"/>
          </a:solidFill>
          <a:ln/>
        </p:spPr>
      </p:sp>
      <p:sp>
        <p:nvSpPr>
          <p:cNvPr id="4" name="Text 2"/>
          <p:cNvSpPr/>
          <p:nvPr/>
        </p:nvSpPr>
        <p:spPr>
          <a:xfrm>
            <a:off x="812800" y="2455962"/>
            <a:ext cx="10883392" cy="1699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592"/>
              </a:lnSpc>
              <a:buNone/>
            </a:pPr>
            <a:r>
              <a:rPr lang="en-US" sz="6400" b="1" dirty="0">
                <a:solidFill>
                  <a:srgbClr val="F7F8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Spring &amp;</a:t>
            </a:r>
            <a:endParaRPr lang="en-US" sz="6400" dirty="0"/>
          </a:p>
          <a:p>
            <a:pPr algn="l" indent="0" marL="0">
              <a:lnSpc>
                <a:spcPts val="6592"/>
              </a:lnSpc>
              <a:buNone/>
            </a:pPr>
            <a:r>
              <a:rPr lang="en-US" sz="6400" b="1" dirty="0">
                <a:solidFill>
                  <a:srgbClr val="F7F8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Spring Boot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12800" y="4308078"/>
            <a:ext cx="850265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7D6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core container concepts to building production-ready REST services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58318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C8F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Spring · Annotations · Spring Boot · REST APIs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WE'LL COVER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77616"/>
            <a:ext cx="3380284" cy="1875830"/>
          </a:xfrm>
          <a:prstGeom prst="roundRect">
            <a:avLst>
              <a:gd name="adj" fmla="val 6601"/>
            </a:avLst>
          </a:prstGeom>
          <a:solidFill>
            <a:srgbClr val="FFFFFF"/>
          </a:solidFill>
          <a:ln w="6350">
            <a:solidFill>
              <a:srgbClr val="DDE3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134791"/>
            <a:ext cx="295191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3150" y="2520851"/>
            <a:ext cx="295191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Spring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3150" y="2866281"/>
            <a:ext cx="295191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History, motivation, and the benefits that made it the Java standard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5809" y="1877616"/>
            <a:ext cx="3380333" cy="1875830"/>
          </a:xfrm>
          <a:prstGeom prst="roundRect">
            <a:avLst>
              <a:gd name="adj" fmla="val 6601"/>
            </a:avLst>
          </a:prstGeom>
          <a:solidFill>
            <a:srgbClr val="FFFFFF"/>
          </a:solidFill>
          <a:ln w="6350">
            <a:solidFill>
              <a:srgbClr val="DDE3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2984" y="2134791"/>
            <a:ext cx="295196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2984" y="2520851"/>
            <a:ext cx="295196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Spring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2984" y="2866281"/>
            <a:ext cx="295196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Inversion of Control, Dependency Injection, and bean configuration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95692" y="1877616"/>
            <a:ext cx="3380284" cy="1875830"/>
          </a:xfrm>
          <a:prstGeom prst="roundRect">
            <a:avLst>
              <a:gd name="adj" fmla="val 6601"/>
            </a:avLst>
          </a:prstGeom>
          <a:solidFill>
            <a:srgbClr val="FFFFFF"/>
          </a:solidFill>
          <a:ln w="6350">
            <a:solidFill>
              <a:srgbClr val="DDE3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2867" y="2134791"/>
            <a:ext cx="295191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52867" y="2520851"/>
            <a:ext cx="295191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Annotations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52867" y="2866281"/>
            <a:ext cx="295191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annotation-driven style that replaced XML configuration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5975" y="3962995"/>
            <a:ext cx="3380284" cy="1875830"/>
          </a:xfrm>
          <a:prstGeom prst="roundRect">
            <a:avLst>
              <a:gd name="adj" fmla="val 6601"/>
            </a:avLst>
          </a:prstGeom>
          <a:solidFill>
            <a:srgbClr val="FFFFFF"/>
          </a:solidFill>
          <a:ln w="6350">
            <a:solidFill>
              <a:srgbClr val="DDE3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3150" y="4220170"/>
            <a:ext cx="295191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3150" y="4606230"/>
            <a:ext cx="295191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Spring Boot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3150" y="4951661"/>
            <a:ext cx="295191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Opinionated auto-configuration, starters, and embedded servers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05809" y="3962995"/>
            <a:ext cx="3380333" cy="1875830"/>
          </a:xfrm>
          <a:prstGeom prst="roundRect">
            <a:avLst>
              <a:gd name="adj" fmla="val 6601"/>
            </a:avLst>
          </a:prstGeom>
          <a:solidFill>
            <a:srgbClr val="FFFFFF"/>
          </a:solidFill>
          <a:ln w="6350">
            <a:solidFill>
              <a:srgbClr val="DDE3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2984" y="4220170"/>
            <a:ext cx="295196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62984" y="4606230"/>
            <a:ext cx="295196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REST Services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62984" y="4951661"/>
            <a:ext cx="295196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Controllers, request handling, and error handling — our main focus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SPRING EXISTS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Development Before Spring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3092450"/>
            <a:ext cx="5023104" cy="1447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Heavyweight EJB containers for simple business logic</a:t>
            </a:r>
            <a:endParaRPr lang="en-US" sz="1400" dirty="0"/>
          </a:p>
          <a:p>
            <a:pPr algn="l" marL="342900" indent="-3429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Sprawling XML descriptors just to wire objects together</a:t>
            </a:r>
            <a:endParaRPr lang="en-US" sz="1400" dirty="0"/>
          </a:p>
          <a:p>
            <a:pPr algn="l" marL="342900" indent="-3429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Classes reached out and constructed their own collaborators</a:t>
            </a:r>
            <a:endParaRPr lang="en-US" sz="1400" dirty="0"/>
          </a:p>
          <a:p>
            <a:pPr algn="l" marL="342900" indent="-342900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Nearly impossible to unit test without a running container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94400" y="1765250"/>
            <a:ext cx="5384800" cy="4076750"/>
          </a:xfrm>
          <a:prstGeom prst="roundRect">
            <a:avLst>
              <a:gd name="adj" fmla="val 2492"/>
            </a:avLst>
          </a:prstGeom>
          <a:solidFill>
            <a:srgbClr val="101B12"/>
          </a:solidFill>
          <a:ln/>
        </p:spPr>
      </p:sp>
      <p:sp>
        <p:nvSpPr>
          <p:cNvPr id="6" name="Text 4"/>
          <p:cNvSpPr/>
          <p:nvPr/>
        </p:nvSpPr>
        <p:spPr>
          <a:xfrm>
            <a:off x="6248400" y="2637830"/>
            <a:ext cx="5023104" cy="2356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class</a:t>
            </a: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OrderService {</a:t>
            </a: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20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private</a:t>
            </a: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OrderRepository repository;</a:t>
            </a: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20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</a:t>
            </a: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OrderService() {</a:t>
            </a: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</a:t>
            </a:r>
            <a:r>
              <a:rPr lang="en-US" sz="1200" dirty="0">
                <a:solidFill>
                  <a:srgbClr val="7C8F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tightly coupled to one impl</a:t>
            </a: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</a:t>
            </a:r>
            <a:r>
              <a:rPr lang="en-US" sz="120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this</a:t>
            </a: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.repository =</a:t>
            </a: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</a:t>
            </a:r>
            <a:r>
              <a:rPr lang="en-US" sz="120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</a:t>
            </a: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JdbcOrderRepository();</a:t>
            </a: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SPRING EXISTS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Spring?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2841575"/>
            <a:ext cx="5536380" cy="9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lightweight framework for building Java applications out of plain old Java objects (POJOs) — no heavyweight container required.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3965525"/>
            <a:ext cx="553638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Born from Rod Johnson's 2002 book </a:t>
            </a:r>
            <a:r>
              <a:rPr lang="en-US" sz="1400" i="1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Expert One-on-One J2EE Design and Development</a:t>
            </a:r>
            <a:r>
              <a:rPr lang="en-US" sz="14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which argued that simpler, testable objects beat EJB ceremony.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95901" y="2487364"/>
            <a:ext cx="4880124" cy="788591"/>
          </a:xfrm>
          <a:prstGeom prst="roundRect">
            <a:avLst>
              <a:gd name="adj" fmla="val 12481"/>
            </a:avLst>
          </a:prstGeom>
          <a:solidFill>
            <a:srgbClr val="FFFFFF"/>
          </a:solidFill>
          <a:ln w="6350">
            <a:solidFill>
              <a:srgbClr val="DDE3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02276" y="2668339"/>
            <a:ext cx="460139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Inversion of Control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02276" y="2881660"/>
            <a:ext cx="460139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container creates and wires your objects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95901" y="3409305"/>
            <a:ext cx="4880124" cy="788591"/>
          </a:xfrm>
          <a:prstGeom prst="roundRect">
            <a:avLst>
              <a:gd name="adj" fmla="val 12481"/>
            </a:avLst>
          </a:prstGeom>
          <a:solidFill>
            <a:srgbClr val="FFFFFF"/>
          </a:solidFill>
          <a:ln w="6350">
            <a:solidFill>
              <a:srgbClr val="DDE3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02276" y="3590280"/>
            <a:ext cx="460139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Dependency Injection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02276" y="3803600"/>
            <a:ext cx="460139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Collaborators are supplied, not constructed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5901" y="4331246"/>
            <a:ext cx="4880124" cy="788591"/>
          </a:xfrm>
          <a:prstGeom prst="roundRect">
            <a:avLst>
              <a:gd name="adj" fmla="val 12481"/>
            </a:avLst>
          </a:prstGeom>
          <a:solidFill>
            <a:srgbClr val="FFFFFF"/>
          </a:solidFill>
          <a:ln w="6350">
            <a:solidFill>
              <a:srgbClr val="DDE3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02276" y="4512221"/>
            <a:ext cx="460139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Aspect-Oriented Programming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02276" y="4725541"/>
            <a:ext cx="460139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Cross-cutting concerns stay out of business logic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SPRING EXISTS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Brief History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743025"/>
            <a:ext cx="2520950" cy="1974850"/>
          </a:xfrm>
          <a:prstGeom prst="roundRect">
            <a:avLst>
              <a:gd name="adj" fmla="val 3698"/>
            </a:avLst>
          </a:prstGeom>
          <a:solidFill>
            <a:srgbClr val="FFFFFF"/>
          </a:solidFill>
          <a:ln w="6350">
            <a:solidFill>
              <a:srgbClr val="DDE3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1924000"/>
            <a:ext cx="222377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2004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6950" y="2307530"/>
            <a:ext cx="222377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Spring 1.0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6950" y="2569121"/>
            <a:ext cx="222377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XML-based IoC container ships, offering an alternative to EJB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95675" y="1743025"/>
            <a:ext cx="2520950" cy="1974850"/>
          </a:xfrm>
          <a:prstGeom prst="roundRect">
            <a:avLst>
              <a:gd name="adj" fmla="val 3698"/>
            </a:avLst>
          </a:prstGeom>
          <a:solidFill>
            <a:srgbClr val="FFFFFF"/>
          </a:solidFill>
          <a:ln w="6350">
            <a:solidFill>
              <a:srgbClr val="DDE3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76650" y="1924000"/>
            <a:ext cx="222377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2007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76650" y="2307530"/>
            <a:ext cx="222377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Spring 2.5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76650" y="2569121"/>
            <a:ext cx="2223770" cy="6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Annotation-driven configuration arrives: @Autowired, @Component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5375" y="1743025"/>
            <a:ext cx="2520950" cy="1974850"/>
          </a:xfrm>
          <a:prstGeom prst="roundRect">
            <a:avLst>
              <a:gd name="adj" fmla="val 3698"/>
            </a:avLst>
          </a:prstGeom>
          <a:solidFill>
            <a:srgbClr val="FFFFFF"/>
          </a:solidFill>
          <a:ln w="6350">
            <a:solidFill>
              <a:srgbClr val="DDE3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6350" y="1924000"/>
            <a:ext cx="222377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2009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6350" y="2307530"/>
            <a:ext cx="222377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Spring 3.0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6350" y="2569121"/>
            <a:ext cx="2223770" cy="6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Java-based configuration: @Configuration and @Bean replace XML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55075" y="1743025"/>
            <a:ext cx="2520950" cy="1974850"/>
          </a:xfrm>
          <a:prstGeom prst="roundRect">
            <a:avLst>
              <a:gd name="adj" fmla="val 3698"/>
            </a:avLst>
          </a:prstGeom>
          <a:solidFill>
            <a:srgbClr val="FFFFFF"/>
          </a:solidFill>
          <a:ln w="6350">
            <a:solidFill>
              <a:srgbClr val="DDE3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36050" y="1924000"/>
            <a:ext cx="222377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2013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036050" y="2307530"/>
            <a:ext cx="222377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Spring 4.0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36050" y="2569121"/>
            <a:ext cx="2223770" cy="6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8 support and the @RestController annotation for MVC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2800" y="3873450"/>
            <a:ext cx="2527300" cy="1968550"/>
          </a:xfrm>
          <a:prstGeom prst="roundRect">
            <a:avLst>
              <a:gd name="adj" fmla="val 3871"/>
            </a:avLst>
          </a:prstGeom>
          <a:solidFill>
            <a:srgbClr val="16211A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" y="4051250"/>
            <a:ext cx="223685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8FD1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2014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90600" y="4434780"/>
            <a:ext cx="2236851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7F8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Spring Boot 1.0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90600" y="4696371"/>
            <a:ext cx="2236851" cy="6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7D6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Auto-configuration, starters, and embedded servers change everything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95675" y="3876625"/>
            <a:ext cx="2520950" cy="1962200"/>
          </a:xfrm>
          <a:prstGeom prst="roundRect">
            <a:avLst>
              <a:gd name="adj" fmla="val 3722"/>
            </a:avLst>
          </a:prstGeom>
          <a:solidFill>
            <a:srgbClr val="FFFFFF"/>
          </a:solidFill>
          <a:ln w="6350">
            <a:solidFill>
              <a:srgbClr val="DDE3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76650" y="4057600"/>
            <a:ext cx="222377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2017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676650" y="4441130"/>
            <a:ext cx="222377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Spring 5.0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76650" y="4702721"/>
            <a:ext cx="222377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Reactive programming with Spring WebFlux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5375" y="3876625"/>
            <a:ext cx="2520950" cy="1962200"/>
          </a:xfrm>
          <a:prstGeom prst="roundRect">
            <a:avLst>
              <a:gd name="adj" fmla="val 3722"/>
            </a:avLst>
          </a:prstGeom>
          <a:solidFill>
            <a:srgbClr val="FFFFFF"/>
          </a:solidFill>
          <a:ln w="6350">
            <a:solidFill>
              <a:srgbClr val="DDE3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6350" y="4057600"/>
            <a:ext cx="222377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2022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356350" y="4441130"/>
            <a:ext cx="222377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Spring 6 / Boot 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56350" y="4702721"/>
            <a:ext cx="222377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Jakarta EE namespace, Java 17 baseline, native image support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855075" y="3876625"/>
            <a:ext cx="2520950" cy="1962200"/>
          </a:xfrm>
          <a:prstGeom prst="roundRect">
            <a:avLst>
              <a:gd name="adj" fmla="val 3722"/>
            </a:avLst>
          </a:prstGeom>
          <a:solidFill>
            <a:srgbClr val="FFFFFF"/>
          </a:solidFill>
          <a:ln w="6350">
            <a:solidFill>
              <a:srgbClr val="DDE3D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36050" y="4514850"/>
            <a:ext cx="22237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036050" y="4809480"/>
            <a:ext cx="222377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default framework for enterprise Java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SPRING EXISTS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It Became the Standard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768425"/>
            <a:ext cx="3397250" cy="1943100"/>
          </a:xfrm>
          <a:prstGeom prst="roundRect">
            <a:avLst>
              <a:gd name="adj" fmla="val 5065"/>
            </a:avLst>
          </a:prstGeom>
          <a:solidFill>
            <a:srgbClr val="FFFFFF"/>
          </a:solidFill>
          <a:ln w="6350">
            <a:solidFill>
              <a:srgbClr val="DDE3D3"/>
            </a:solidFill>
            <a:prstDash val="solid"/>
          </a:ln>
        </p:spPr>
      </p:sp>
      <p:pic>
        <p:nvPicPr>
          <p:cNvPr id="5" name="Image 0" descr="Lin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7750" y="2000200"/>
            <a:ext cx="254000" cy="25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7750" y="2343100"/>
            <a:ext cx="30217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Loose coupling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47750" y="2645321"/>
            <a:ext cx="3021711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Objects depend on interfaces, not concrete implementations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97375" y="1768425"/>
            <a:ext cx="3397250" cy="1943100"/>
          </a:xfrm>
          <a:prstGeom prst="roundRect">
            <a:avLst>
              <a:gd name="adj" fmla="val 5065"/>
            </a:avLst>
          </a:prstGeom>
          <a:solidFill>
            <a:srgbClr val="FFFFFF"/>
          </a:solidFill>
          <a:ln w="6350">
            <a:solidFill>
              <a:srgbClr val="DDE3D3"/>
            </a:solidFill>
            <a:prstDash val="solid"/>
          </a:ln>
        </p:spPr>
      </p:sp>
      <p:pic>
        <p:nvPicPr>
          <p:cNvPr id="9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29150" y="2000200"/>
            <a:ext cx="254000" cy="254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29150" y="2343100"/>
            <a:ext cx="30217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Testability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629150" y="2645321"/>
            <a:ext cx="3021711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Swap in mocks and test business logic without a container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978775" y="1768425"/>
            <a:ext cx="3397250" cy="1943100"/>
          </a:xfrm>
          <a:prstGeom prst="roundRect">
            <a:avLst>
              <a:gd name="adj" fmla="val 5065"/>
            </a:avLst>
          </a:prstGeom>
          <a:solidFill>
            <a:srgbClr val="FFFFFF"/>
          </a:solidFill>
          <a:ln w="6350">
            <a:solidFill>
              <a:srgbClr val="DDE3D3"/>
            </a:solidFill>
            <a:prstDash val="solid"/>
          </a:ln>
        </p:spPr>
      </p:sp>
      <p:pic>
        <p:nvPicPr>
          <p:cNvPr id="13" name="Image 2" descr="Cod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10550" y="2000200"/>
            <a:ext cx="254000" cy="254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10550" y="2343100"/>
            <a:ext cx="30217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Plain Java objects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210550" y="2645321"/>
            <a:ext cx="3021711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mandatory base classes or heavyweight interfaces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15975" y="3895675"/>
            <a:ext cx="3397250" cy="1943150"/>
          </a:xfrm>
          <a:prstGeom prst="roundRect">
            <a:avLst>
              <a:gd name="adj" fmla="val 5065"/>
            </a:avLst>
          </a:prstGeom>
          <a:solidFill>
            <a:srgbClr val="FFFFFF"/>
          </a:solidFill>
          <a:ln w="6350">
            <a:solidFill>
              <a:srgbClr val="DDE3D3"/>
            </a:solidFill>
            <a:prstDash val="solid"/>
          </a:ln>
        </p:spPr>
      </p:sp>
      <p:pic>
        <p:nvPicPr>
          <p:cNvPr id="17" name="Image 3" descr="Wrench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47750" y="4127450"/>
            <a:ext cx="254000" cy="2540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47750" y="4470350"/>
            <a:ext cx="30217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Modularity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047750" y="4772571"/>
            <a:ext cx="3021711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only the modules you need — web, data, security, messaging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397375" y="3895675"/>
            <a:ext cx="3397250" cy="1943150"/>
          </a:xfrm>
          <a:prstGeom prst="roundRect">
            <a:avLst>
              <a:gd name="adj" fmla="val 5065"/>
            </a:avLst>
          </a:prstGeom>
          <a:solidFill>
            <a:srgbClr val="FFFFFF"/>
          </a:solidFill>
          <a:ln w="6350">
            <a:solidFill>
              <a:srgbClr val="DDE3D3"/>
            </a:solidFill>
            <a:prstDash val="solid"/>
          </a:ln>
        </p:spPr>
      </p:sp>
      <p:pic>
        <p:nvPicPr>
          <p:cNvPr id="21" name="Image 4" descr="Glob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29150" y="4127450"/>
            <a:ext cx="254000" cy="2540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29150" y="4470350"/>
            <a:ext cx="30217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Huge ecosystem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629150" y="4772571"/>
            <a:ext cx="3021711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Integrates cleanly with nearly every Java library and data store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7975600" y="3892500"/>
            <a:ext cx="3403600" cy="1949500"/>
          </a:xfrm>
          <a:prstGeom prst="roundRect">
            <a:avLst>
              <a:gd name="adj" fmla="val 5212"/>
            </a:avLst>
          </a:prstGeom>
          <a:solidFill>
            <a:srgbClr val="16211A"/>
          </a:solidFill>
          <a:ln/>
        </p:spPr>
      </p:sp>
      <p:sp>
        <p:nvSpPr>
          <p:cNvPr id="25" name="Text 18"/>
          <p:cNvSpPr/>
          <p:nvPr/>
        </p:nvSpPr>
        <p:spPr>
          <a:xfrm>
            <a:off x="8204200" y="4511675"/>
            <a:ext cx="30347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7F8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Still evolving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8204200" y="4813895"/>
            <a:ext cx="30347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C7D6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20+ years of active development, from XML to reactive to native images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SPRING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Inversion of Control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768425"/>
            <a:ext cx="5156200" cy="4070400"/>
          </a:xfrm>
          <a:prstGeom prst="roundRect">
            <a:avLst>
              <a:gd name="adj" fmla="val 3042"/>
            </a:avLst>
          </a:prstGeom>
          <a:solidFill>
            <a:srgbClr val="FFFFFF"/>
          </a:solidFill>
          <a:ln w="6350">
            <a:solidFill>
              <a:srgbClr val="DDE3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025600"/>
            <a:ext cx="47811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WITHOUT IOC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3150" y="2365921"/>
            <a:ext cx="478110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class controls its own flow: it decides which implementation to create, when, and how.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3150" y="5368330"/>
            <a:ext cx="47811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 OrderService(new JdbcRepo())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29350" y="1765250"/>
            <a:ext cx="5149850" cy="4076750"/>
          </a:xfrm>
          <a:prstGeom prst="roundRect">
            <a:avLst>
              <a:gd name="adj" fmla="val 3115"/>
            </a:avLst>
          </a:prstGeom>
          <a:solidFill>
            <a:srgbClr val="16211A"/>
          </a:solidFill>
          <a:ln/>
        </p:spPr>
      </p:sp>
      <p:sp>
        <p:nvSpPr>
          <p:cNvPr id="9" name="Text 7"/>
          <p:cNvSpPr/>
          <p:nvPr/>
        </p:nvSpPr>
        <p:spPr>
          <a:xfrm>
            <a:off x="6483350" y="2019250"/>
            <a:ext cx="47811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8FD1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 IOC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83350" y="2359571"/>
            <a:ext cx="478110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7F8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container controls the flow: it creates objects and hands them their dependencies.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83350" y="5374680"/>
            <a:ext cx="47811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7D6B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container.getBean(OrderService.class)</a:t>
            </a:r>
            <a:endParaRPr lang="en-US" sz="1200" dirty="0"/>
          </a:p>
        </p:txBody>
      </p:sp>
      <p:pic>
        <p:nvPicPr>
          <p:cNvPr id="12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24600" y="5245050"/>
            <a:ext cx="1168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SPRING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Dependency Injection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587450"/>
            <a:ext cx="915670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Constructor injection is the recommended style: dependencies arrive as constructor parameters, so a bean can never exist half-wired.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2313831"/>
            <a:ext cx="10566400" cy="3086249"/>
          </a:xfrm>
          <a:prstGeom prst="roundRect">
            <a:avLst>
              <a:gd name="adj" fmla="val 3292"/>
            </a:avLst>
          </a:prstGeom>
          <a:solidFill>
            <a:srgbClr val="101B12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2567831"/>
            <a:ext cx="10360152" cy="2603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57"/>
              </a:lnSpc>
              <a:buNone/>
            </a:pPr>
            <a:r>
              <a:rPr lang="en-US" sz="89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@Service</a:t>
            </a:r>
            <a:endParaRPr lang="en-US" sz="890" dirty="0"/>
          </a:p>
          <a:p>
            <a:pPr algn="l" indent="0" marL="0">
              <a:lnSpc>
                <a:spcPts val="1557"/>
              </a:lnSpc>
              <a:buNone/>
            </a:pPr>
            <a:r>
              <a:rPr lang="en-US" sz="89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class</a:t>
            </a:r>
            <a:r>
              <a:rPr lang="en-US" sz="89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OrderService {</a:t>
            </a:r>
            <a:endParaRPr lang="en-US" sz="890" dirty="0"/>
          </a:p>
          <a:p>
            <a:pPr algn="l" indent="0" marL="0">
              <a:lnSpc>
                <a:spcPts val="1557"/>
              </a:lnSpc>
              <a:buNone/>
            </a:pPr>
            <a:r>
              <a:rPr lang="en-US" sz="89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89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private final</a:t>
            </a:r>
            <a:r>
              <a:rPr lang="en-US" sz="89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OrderRepository repository;</a:t>
            </a:r>
            <a:endParaRPr lang="en-US" sz="890" dirty="0"/>
          </a:p>
          <a:p>
            <a:pPr algn="l" indent="0" marL="0">
              <a:lnSpc>
                <a:spcPts val="1557"/>
              </a:lnSpc>
              <a:buNone/>
            </a:pPr>
            <a:r>
              <a:rPr lang="en-US" sz="89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89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private final</a:t>
            </a:r>
            <a:r>
              <a:rPr lang="en-US" sz="89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PaymentClient paymentClient;</a:t>
            </a:r>
            <a:endParaRPr lang="en-US" sz="890" dirty="0"/>
          </a:p>
          <a:p>
            <a:pPr algn="l" indent="0" marL="0">
              <a:lnSpc>
                <a:spcPts val="1557"/>
              </a:lnSpc>
              <a:buNone/>
            </a:pPr>
            <a:endParaRPr lang="en-US" sz="890" dirty="0"/>
          </a:p>
          <a:p>
            <a:pPr algn="l" indent="0" marL="0">
              <a:lnSpc>
                <a:spcPts val="1557"/>
              </a:lnSpc>
              <a:buNone/>
            </a:pPr>
            <a:r>
              <a:rPr lang="en-US" sz="89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89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@Autowired</a:t>
            </a:r>
            <a:endParaRPr lang="en-US" sz="890" dirty="0"/>
          </a:p>
          <a:p>
            <a:pPr algn="l" indent="0" marL="0">
              <a:lnSpc>
                <a:spcPts val="1557"/>
              </a:lnSpc>
              <a:buNone/>
            </a:pPr>
            <a:r>
              <a:rPr lang="en-US" sz="89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89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</a:t>
            </a:r>
            <a:r>
              <a:rPr lang="en-US" sz="89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OrderService(OrderRepository repository,</a:t>
            </a:r>
            <a:endParaRPr lang="en-US" sz="890" dirty="0"/>
          </a:p>
          <a:p>
            <a:pPr algn="l" indent="0" marL="0">
              <a:lnSpc>
                <a:spcPts val="1557"/>
              </a:lnSpc>
              <a:buNone/>
            </a:pPr>
            <a:r>
              <a:rPr lang="en-US" sz="89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              PaymentClient paymentClient) {</a:t>
            </a:r>
            <a:endParaRPr lang="en-US" sz="890" dirty="0"/>
          </a:p>
          <a:p>
            <a:pPr algn="l" indent="0" marL="0">
              <a:lnSpc>
                <a:spcPts val="1557"/>
              </a:lnSpc>
              <a:buNone/>
            </a:pPr>
            <a:r>
              <a:rPr lang="en-US" sz="89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</a:t>
            </a:r>
            <a:r>
              <a:rPr lang="en-US" sz="890" dirty="0">
                <a:solidFill>
                  <a:srgbClr val="7C8F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Spring resolves and injects both beans</a:t>
            </a:r>
            <a:endParaRPr lang="en-US" sz="890" dirty="0"/>
          </a:p>
          <a:p>
            <a:pPr algn="l" indent="0" marL="0">
              <a:lnSpc>
                <a:spcPts val="1557"/>
              </a:lnSpc>
              <a:buNone/>
            </a:pPr>
            <a:r>
              <a:rPr lang="en-US" sz="89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</a:t>
            </a:r>
            <a:r>
              <a:rPr lang="en-US" sz="89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this</a:t>
            </a:r>
            <a:r>
              <a:rPr lang="en-US" sz="89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.repository = repository;</a:t>
            </a:r>
            <a:endParaRPr lang="en-US" sz="890" dirty="0"/>
          </a:p>
          <a:p>
            <a:pPr algn="l" indent="0" marL="0">
              <a:lnSpc>
                <a:spcPts val="1557"/>
              </a:lnSpc>
              <a:buNone/>
            </a:pPr>
            <a:r>
              <a:rPr lang="en-US" sz="89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</a:t>
            </a:r>
            <a:r>
              <a:rPr lang="en-US" sz="89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this</a:t>
            </a:r>
            <a:r>
              <a:rPr lang="en-US" sz="89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.paymentClient = paymentClient;</a:t>
            </a:r>
            <a:endParaRPr lang="en-US" sz="890" dirty="0"/>
          </a:p>
          <a:p>
            <a:pPr algn="l" indent="0" marL="0">
              <a:lnSpc>
                <a:spcPts val="1557"/>
              </a:lnSpc>
              <a:buNone/>
            </a:pPr>
            <a:r>
              <a:rPr lang="en-US" sz="89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890" dirty="0"/>
          </a:p>
          <a:p>
            <a:pPr algn="l" indent="0" marL="0">
              <a:lnSpc>
                <a:spcPts val="1557"/>
              </a:lnSpc>
              <a:buNone/>
            </a:pPr>
            <a:r>
              <a:rPr lang="en-US" sz="89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890" dirty="0"/>
          </a:p>
        </p:txBody>
      </p:sp>
      <p:sp>
        <p:nvSpPr>
          <p:cNvPr id="7" name="Text 5"/>
          <p:cNvSpPr/>
          <p:nvPr/>
        </p:nvSpPr>
        <p:spPr>
          <a:xfrm>
            <a:off x="812800" y="56286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a single constructor, </a:t>
            </a:r>
            <a:r>
              <a:rPr lang="en-US" sz="1200" b="1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@Autowired</a:t>
            </a:r>
            <a:r>
              <a:rPr lang="en-US" sz="12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is optional as of Spring 4.3 — it's shown here for clarity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SPRING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ApplicationContext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587450"/>
            <a:ext cx="9483725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Spring's IoC container. It reads your configuration, creates beans, injects their dependencies, and manages their entire lifecycle.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5975" y="2342406"/>
            <a:ext cx="10560050" cy="3496419"/>
          </a:xfrm>
          <a:prstGeom prst="roundRect">
            <a:avLst>
              <a:gd name="adj" fmla="val 4268"/>
            </a:avLst>
          </a:prstGeom>
          <a:solidFill>
            <a:srgbClr val="FFFFFF"/>
          </a:solidFill>
          <a:ln w="6350">
            <a:solidFill>
              <a:srgbClr val="DDE3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9200" y="2593231"/>
            <a:ext cx="152533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ApplicationContext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225550" y="3107581"/>
            <a:ext cx="2146300" cy="876300"/>
          </a:xfrm>
          <a:prstGeom prst="roundRect">
            <a:avLst>
              <a:gd name="adj" fmla="val 9420"/>
            </a:avLst>
          </a:prstGeom>
          <a:solidFill>
            <a:srgbClr val="F7F8F3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5750" y="3430141"/>
            <a:ext cx="15367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6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OrderController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35550" y="3107581"/>
            <a:ext cx="2146300" cy="876300"/>
          </a:xfrm>
          <a:prstGeom prst="roundRect">
            <a:avLst>
              <a:gd name="adj" fmla="val 9420"/>
            </a:avLst>
          </a:prstGeom>
          <a:solidFill>
            <a:srgbClr val="F7F8F3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14330" y="3430141"/>
            <a:ext cx="12395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6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OrderService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845550" y="3107581"/>
            <a:ext cx="2146300" cy="876300"/>
          </a:xfrm>
          <a:prstGeom prst="roundRect">
            <a:avLst>
              <a:gd name="adj" fmla="val 9420"/>
            </a:avLst>
          </a:prstGeom>
          <a:solidFill>
            <a:srgbClr val="F7F8F3"/>
          </a:solidFill>
          <a:ln w="12700">
            <a:solidFill>
              <a:srgbClr val="6DB3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75750" y="3430141"/>
            <a:ext cx="15367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6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OrderRepository</a:t>
            </a:r>
            <a:endParaRPr lang="en-US" sz="1300" dirty="0"/>
          </a:p>
        </p:txBody>
      </p:sp>
      <p:pic>
        <p:nvPicPr>
          <p:cNvPr id="13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14700" y="3482231"/>
            <a:ext cx="1778000" cy="127000"/>
          </a:xfrm>
          <a:prstGeom prst="rect">
            <a:avLst/>
          </a:prstGeom>
        </p:spPr>
      </p:pic>
      <p:pic>
        <p:nvPicPr>
          <p:cNvPr id="14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24700" y="3482231"/>
            <a:ext cx="1778000" cy="1270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19200" y="5273080"/>
            <a:ext cx="1046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Beans are singletons by default — created once, cached, and shared everywhere they're needed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SPRING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Ways to Configure Beans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39850"/>
          <a:ext cx="10566400" cy="1668413"/>
        </p:xfrm>
        <a:graphic>
          <a:graphicData uri="http://schemas.openxmlformats.org/drawingml/2006/table">
            <a:tbl>
              <a:tblPr/>
              <a:tblGrid>
                <a:gridCol w="2324608"/>
                <a:gridCol w="4015232"/>
                <a:gridCol w="2113280"/>
                <a:gridCol w="2113280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8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Style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8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How it works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8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Era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8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Used today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1A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XML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Beans declared in &lt;bean&gt; elements in an XML file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Spring 1.0+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Rarely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45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Java Config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@Configuration classes with @Bean factory methods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Spring 3.0+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 third-party beans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7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Annotations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Classes self-register with @Component and friends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Spring 2.5+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Default choice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3649563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Modern Spring and Spring Boot apps mix annotation-based components with a small amount of Java config for beans you don't own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SPRING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Java-Based Configuration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587450"/>
            <a:ext cx="9483725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Reach for @Configuration and @Bean when you need to wire a class you didn't write — a third-party client, for example.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2313831"/>
            <a:ext cx="10566400" cy="3528169"/>
          </a:xfrm>
          <a:prstGeom prst="roundRect">
            <a:avLst>
              <a:gd name="adj" fmla="val 2880"/>
            </a:avLst>
          </a:prstGeom>
          <a:solidFill>
            <a:srgbClr val="101B12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2567831"/>
            <a:ext cx="10360152" cy="291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75"/>
              </a:lnSpc>
              <a:buNone/>
            </a:pPr>
            <a:r>
              <a:rPr lang="en-US" sz="130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@Configuration</a:t>
            </a:r>
            <a:endParaRPr lang="en-US" sz="1300" dirty="0"/>
          </a:p>
          <a:p>
            <a:pPr algn="l" indent="0" marL="0">
              <a:lnSpc>
                <a:spcPts val="2275"/>
              </a:lnSpc>
              <a:buNone/>
            </a:pPr>
            <a:r>
              <a:rPr lang="en-US" sz="130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class</a:t>
            </a:r>
            <a:r>
              <a:rPr lang="en-US" sz="13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PaymentConfig {</a:t>
            </a:r>
            <a:endParaRPr lang="en-US" sz="1300" dirty="0"/>
          </a:p>
          <a:p>
            <a:pPr algn="l" indent="0" marL="0">
              <a:lnSpc>
                <a:spcPts val="2275"/>
              </a:lnSpc>
              <a:buNone/>
            </a:pPr>
            <a:endParaRPr lang="en-US" sz="1300" dirty="0"/>
          </a:p>
          <a:p>
            <a:pPr algn="l" indent="0" marL="0">
              <a:lnSpc>
                <a:spcPts val="2275"/>
              </a:lnSpc>
              <a:buNone/>
            </a:pPr>
            <a:r>
              <a:rPr lang="en-US" sz="13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30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@Bean</a:t>
            </a:r>
            <a:endParaRPr lang="en-US" sz="1300" dirty="0"/>
          </a:p>
          <a:p>
            <a:pPr algn="l" indent="0" marL="0">
              <a:lnSpc>
                <a:spcPts val="2275"/>
              </a:lnSpc>
              <a:buNone/>
            </a:pPr>
            <a:r>
              <a:rPr lang="en-US" sz="13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30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</a:t>
            </a:r>
            <a:r>
              <a:rPr lang="en-US" sz="13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PaymentClient paymentClient(</a:t>
            </a:r>
            <a:endParaRPr lang="en-US" sz="1300" dirty="0"/>
          </a:p>
          <a:p>
            <a:pPr algn="l" indent="0" marL="0">
              <a:lnSpc>
                <a:spcPts val="2275"/>
              </a:lnSpc>
              <a:buNone/>
            </a:pPr>
            <a:r>
              <a:rPr lang="en-US" sz="13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       </a:t>
            </a:r>
            <a:r>
              <a:rPr lang="en-US" sz="130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@Value</a:t>
            </a:r>
            <a:r>
              <a:rPr lang="en-US" sz="13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30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"${payments.api-key}"</a:t>
            </a:r>
            <a:r>
              <a:rPr lang="en-US" sz="13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String apiKey) {</a:t>
            </a:r>
            <a:endParaRPr lang="en-US" sz="1300" dirty="0"/>
          </a:p>
          <a:p>
            <a:pPr algn="l" indent="0" marL="0">
              <a:lnSpc>
                <a:spcPts val="2275"/>
              </a:lnSpc>
              <a:buNone/>
            </a:pPr>
            <a:r>
              <a:rPr lang="en-US" sz="13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</a:t>
            </a:r>
            <a:r>
              <a:rPr lang="en-US" sz="1300" dirty="0">
                <a:solidFill>
                  <a:srgbClr val="7C8F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Spring calls this method once and manages the result</a:t>
            </a:r>
            <a:endParaRPr lang="en-US" sz="1300" dirty="0"/>
          </a:p>
          <a:p>
            <a:pPr algn="l" indent="0" marL="0">
              <a:lnSpc>
                <a:spcPts val="2275"/>
              </a:lnSpc>
              <a:buNone/>
            </a:pPr>
            <a:r>
              <a:rPr lang="en-US" sz="13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</a:t>
            </a:r>
            <a:r>
              <a:rPr lang="en-US" sz="130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 new</a:t>
            </a:r>
            <a:r>
              <a:rPr lang="en-US" sz="13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PaymentClient(apiKey);</a:t>
            </a:r>
            <a:endParaRPr lang="en-US" sz="1300" dirty="0"/>
          </a:p>
          <a:p>
            <a:pPr algn="l" indent="0" marL="0">
              <a:lnSpc>
                <a:spcPts val="2275"/>
              </a:lnSpc>
              <a:buNone/>
            </a:pPr>
            <a:r>
              <a:rPr lang="en-US" sz="13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300" dirty="0"/>
          </a:p>
          <a:p>
            <a:pPr algn="l" indent="0" marL="0">
              <a:lnSpc>
                <a:spcPts val="2275"/>
              </a:lnSpc>
              <a:buNone/>
            </a:pPr>
            <a:r>
              <a:rPr lang="en-US" sz="13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FD1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ANNOTATIONS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F7F8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Annotations?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2693988"/>
            <a:ext cx="5049266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7F8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Annotations move configuration next to the code it describes, instead of into a separate XML file.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3455988"/>
            <a:ext cx="5049266" cy="1482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2295"/>
              </a:lnSpc>
              <a:buSzPct val="100000"/>
              <a:buChar char="•"/>
            </a:pPr>
            <a:r>
              <a:rPr lang="en-US" sz="1350" dirty="0">
                <a:solidFill>
                  <a:srgbClr val="C7D6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Metadata lives beside the class or method it configures</a:t>
            </a:r>
            <a:endParaRPr lang="en-US" sz="1350" dirty="0"/>
          </a:p>
          <a:p>
            <a:pPr algn="l" marL="342900" indent="-342900">
              <a:lnSpc>
                <a:spcPts val="2295"/>
              </a:lnSpc>
              <a:buSzPct val="100000"/>
              <a:buChar char="•"/>
            </a:pPr>
            <a:r>
              <a:rPr lang="en-US" sz="1350" dirty="0">
                <a:solidFill>
                  <a:srgbClr val="C7D6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Less boilerplate, fewer files to keep in sync</a:t>
            </a:r>
            <a:endParaRPr lang="en-US" sz="1350" dirty="0"/>
          </a:p>
          <a:p>
            <a:pPr algn="l" marL="342900" indent="-342900">
              <a:lnSpc>
                <a:spcPts val="2295"/>
              </a:lnSpc>
              <a:buSzPct val="100000"/>
              <a:buChar char="•"/>
            </a:pPr>
            <a:r>
              <a:rPr lang="en-US" sz="1350" dirty="0">
                <a:solidFill>
                  <a:srgbClr val="C7D6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Convention over configuration — sensible defaults, override when needed</a:t>
            </a:r>
            <a:endParaRPr lang="en-US" sz="1350" dirty="0"/>
          </a:p>
          <a:p>
            <a:pPr algn="l" marL="342900" indent="-342900">
              <a:lnSpc>
                <a:spcPts val="2295"/>
              </a:lnSpc>
              <a:buSzPct val="100000"/>
              <a:buChar char="•"/>
            </a:pPr>
            <a:r>
              <a:rPr lang="en-US" sz="1350" dirty="0">
                <a:solidFill>
                  <a:srgbClr val="C7D6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compiler and IDE can validate references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19800" y="2832100"/>
            <a:ext cx="5359400" cy="1943001"/>
          </a:xfrm>
          <a:prstGeom prst="roundRect">
            <a:avLst>
              <a:gd name="adj" fmla="val 5229"/>
            </a:avLst>
          </a:prstGeom>
          <a:solidFill>
            <a:srgbClr val="1E2E23"/>
          </a:solidFill>
          <a:ln/>
        </p:spPr>
      </p:sp>
      <p:sp>
        <p:nvSpPr>
          <p:cNvPr id="7" name="Text 5"/>
          <p:cNvSpPr/>
          <p:nvPr/>
        </p:nvSpPr>
        <p:spPr>
          <a:xfrm>
            <a:off x="6248400" y="3060700"/>
            <a:ext cx="5049266" cy="15112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30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@Service</a:t>
            </a:r>
            <a:endParaRPr lang="en-US" sz="1300" dirty="0"/>
          </a:p>
          <a:p>
            <a:pPr algn="l" indent="0" marL="0">
              <a:lnSpc>
                <a:spcPts val="2340"/>
              </a:lnSpc>
              <a:buNone/>
            </a:pPr>
            <a:r>
              <a:rPr lang="en-US" sz="130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class</a:t>
            </a:r>
            <a:r>
              <a:rPr lang="en-US" sz="13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OrderService {</a:t>
            </a:r>
            <a:endParaRPr lang="en-US" sz="1300" dirty="0"/>
          </a:p>
          <a:p>
            <a:pPr algn="l" indent="0" marL="0">
              <a:lnSpc>
                <a:spcPts val="2340"/>
              </a:lnSpc>
              <a:buNone/>
            </a:pPr>
            <a:r>
              <a:rPr lang="en-US" sz="13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300" dirty="0">
                <a:solidFill>
                  <a:srgbClr val="7C8F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this class + its dependencies</a:t>
            </a:r>
            <a:endParaRPr lang="en-US" sz="1300" dirty="0"/>
          </a:p>
          <a:p>
            <a:pPr algn="l" indent="0" marL="0">
              <a:lnSpc>
                <a:spcPts val="2340"/>
              </a:lnSpc>
              <a:buNone/>
            </a:pPr>
            <a:r>
              <a:rPr lang="en-US" sz="13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300" dirty="0">
                <a:solidFill>
                  <a:srgbClr val="7C8F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are declared in one place</a:t>
            </a:r>
            <a:endParaRPr lang="en-US" sz="1300" dirty="0"/>
          </a:p>
          <a:p>
            <a:pPr algn="l" indent="0" marL="0">
              <a:lnSpc>
                <a:spcPts val="2340"/>
              </a:lnSpc>
              <a:buNone/>
            </a:pPr>
            <a:r>
              <a:rPr lang="en-US" sz="13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ANNOTATIONS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Stereotype Annotations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58745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marks a class for auto-detection by @ComponentScan and gives it a role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021780"/>
          <a:ext cx="10566400" cy="2155924"/>
        </p:xfrm>
        <a:graphic>
          <a:graphicData uri="http://schemas.openxmlformats.org/drawingml/2006/table">
            <a:tbl>
              <a:tblPr/>
              <a:tblGrid>
                <a:gridCol w="2535936"/>
                <a:gridCol w="4649216"/>
                <a:gridCol w="3381248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8FD14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Annotation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8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Marks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8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Layer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1A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@Component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generic, managed bean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@Service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Business logic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Service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7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@Repository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Data access; adds automatic exception translation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Persistence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@Controller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Web MVC handler returning view names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Web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7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@RestController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@Controller + @ResponseBody — returns data, not views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Web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ANNOTATIONS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Wiring Beans Together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39850"/>
            <a:ext cx="5384800" cy="4102150"/>
          </a:xfrm>
          <a:prstGeom prst="roundRect">
            <a:avLst>
              <a:gd name="adj" fmla="val 2477"/>
            </a:avLst>
          </a:prstGeom>
          <a:solidFill>
            <a:srgbClr val="101B12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1968450"/>
            <a:ext cx="5075428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@Service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class</a:t>
            </a: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NotificationService {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20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@Autowired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20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@Qualifier</a:t>
            </a: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20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"smtpSender"</a:t>
            </a: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20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private</a:t>
            </a: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MailSender mailSender;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20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@Value</a:t>
            </a: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20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"${notify.retry-count:3}"</a:t>
            </a: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20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private int</a:t>
            </a: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retryCount;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51600" y="2616250"/>
            <a:ext cx="507542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B8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@Autowired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51600" y="2885480"/>
            <a:ext cx="50754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Injects a matching bean — on a field, setter, or constructor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51600" y="3238500"/>
            <a:ext cx="507542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B8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@Qualifier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51600" y="3507730"/>
            <a:ext cx="50754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Picks one bean by name when several implementations exist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51600" y="3860750"/>
            <a:ext cx="507542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B8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@Value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51600" y="4129980"/>
            <a:ext cx="50754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Injects a property, with an optional default value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51600" y="4483001"/>
            <a:ext cx="507542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B8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@Primary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51600" y="4752231"/>
            <a:ext cx="50754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Marks the default bean when no @Qualifier is given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ANNOTATIONS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More Popular Annotations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717625"/>
            <a:ext cx="3414167" cy="1981200"/>
          </a:xfrm>
          <a:prstGeom prst="roundRect">
            <a:avLst>
              <a:gd name="adj" fmla="val 4968"/>
            </a:avLst>
          </a:prstGeom>
          <a:solidFill>
            <a:srgbClr val="FFFFFF"/>
          </a:solidFill>
          <a:ln w="6350">
            <a:solidFill>
              <a:srgbClr val="DDE3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1924000"/>
            <a:ext cx="309145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B8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@Configuration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22350" y="2236391"/>
            <a:ext cx="3091459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Declares a class that defines beans via @Bean methods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8892" y="1717625"/>
            <a:ext cx="3414167" cy="1981200"/>
          </a:xfrm>
          <a:prstGeom prst="roundRect">
            <a:avLst>
              <a:gd name="adj" fmla="val 4968"/>
            </a:avLst>
          </a:prstGeom>
          <a:solidFill>
            <a:srgbClr val="FFFFFF"/>
          </a:solidFill>
          <a:ln w="6350">
            <a:solidFill>
              <a:srgbClr val="DDE3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5267" y="1924000"/>
            <a:ext cx="309145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B8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@ComponentScan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95267" y="2236391"/>
            <a:ext cx="3091459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Tells Spring which packages to scan for annotated classes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61809" y="1717625"/>
            <a:ext cx="3414216" cy="1981200"/>
          </a:xfrm>
          <a:prstGeom prst="roundRect">
            <a:avLst>
              <a:gd name="adj" fmla="val 4968"/>
            </a:avLst>
          </a:prstGeom>
          <a:solidFill>
            <a:srgbClr val="FFFFFF"/>
          </a:solidFill>
          <a:ln w="6350">
            <a:solidFill>
              <a:srgbClr val="DDE3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68184" y="1924000"/>
            <a:ext cx="30915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B8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@Scope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68184" y="2236391"/>
            <a:ext cx="309151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Sets bean scope — singleton (default) or prototype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5975" y="3857575"/>
            <a:ext cx="3414167" cy="1981250"/>
          </a:xfrm>
          <a:prstGeom prst="roundRect">
            <a:avLst>
              <a:gd name="adj" fmla="val 4968"/>
            </a:avLst>
          </a:prstGeom>
          <a:solidFill>
            <a:srgbClr val="FFFFFF"/>
          </a:solidFill>
          <a:ln w="6350">
            <a:solidFill>
              <a:srgbClr val="DDE3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2350" y="4063950"/>
            <a:ext cx="309145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B8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@PostConstruct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22350" y="4376341"/>
            <a:ext cx="3091459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Runs a method right after dependency injection completes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88892" y="3857575"/>
            <a:ext cx="3414167" cy="1981250"/>
          </a:xfrm>
          <a:prstGeom prst="roundRect">
            <a:avLst>
              <a:gd name="adj" fmla="val 4968"/>
            </a:avLst>
          </a:prstGeom>
          <a:solidFill>
            <a:srgbClr val="FFFFFF"/>
          </a:solidFill>
          <a:ln w="6350">
            <a:solidFill>
              <a:srgbClr val="DDE3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5267" y="4063950"/>
            <a:ext cx="309145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B8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@PreDestroy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95267" y="4376341"/>
            <a:ext cx="3091459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Runs a method just before the bean is destroyed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61809" y="3857575"/>
            <a:ext cx="3414216" cy="1981250"/>
          </a:xfrm>
          <a:prstGeom prst="roundRect">
            <a:avLst>
              <a:gd name="adj" fmla="val 4968"/>
            </a:avLst>
          </a:prstGeom>
          <a:solidFill>
            <a:srgbClr val="FFFFFF"/>
          </a:solidFill>
          <a:ln w="6350">
            <a:solidFill>
              <a:srgbClr val="DDE3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68184" y="4063950"/>
            <a:ext cx="30915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B8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@Profile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68184" y="4376341"/>
            <a:ext cx="309151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Activates a bean only for a given environment, like "dev"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ANNOTATIONS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Peek at Aspect-Oriented Programming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587450"/>
            <a:ext cx="9483725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AOP pulls cross-cutting concerns — logging, security, transactions — out of business logic and into one reusable place.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2313831"/>
            <a:ext cx="10566400" cy="3528169"/>
          </a:xfrm>
          <a:prstGeom prst="roundRect">
            <a:avLst>
              <a:gd name="adj" fmla="val 2880"/>
            </a:avLst>
          </a:prstGeom>
          <a:solidFill>
            <a:srgbClr val="101B12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2567831"/>
            <a:ext cx="10360152" cy="3045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32"/>
              </a:lnSpc>
              <a:buNone/>
            </a:pPr>
            <a:r>
              <a:rPr lang="en-US" sz="1047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@Aspect</a:t>
            </a:r>
            <a:endParaRPr lang="en-US" sz="1047" dirty="0"/>
          </a:p>
          <a:p>
            <a:pPr algn="l" indent="0" marL="0">
              <a:lnSpc>
                <a:spcPts val="1832"/>
              </a:lnSpc>
              <a:buNone/>
            </a:pPr>
            <a:r>
              <a:rPr lang="en-US" sz="1047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@Component</a:t>
            </a:r>
            <a:endParaRPr lang="en-US" sz="1047" dirty="0"/>
          </a:p>
          <a:p>
            <a:pPr algn="l" indent="0" marL="0">
              <a:lnSpc>
                <a:spcPts val="1832"/>
              </a:lnSpc>
              <a:buNone/>
            </a:pPr>
            <a:r>
              <a:rPr lang="en-US" sz="1047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class</a:t>
            </a:r>
            <a:r>
              <a:rPr lang="en-US" sz="1047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LoggingAspect {</a:t>
            </a:r>
            <a:endParaRPr lang="en-US" sz="1047" dirty="0"/>
          </a:p>
          <a:p>
            <a:pPr algn="l" indent="0" marL="0">
              <a:lnSpc>
                <a:spcPts val="1832"/>
              </a:lnSpc>
              <a:buNone/>
            </a:pPr>
            <a:endParaRPr lang="en-US" sz="1047" dirty="0"/>
          </a:p>
          <a:p>
            <a:pPr algn="l" indent="0" marL="0">
              <a:lnSpc>
                <a:spcPts val="1832"/>
              </a:lnSpc>
              <a:buNone/>
            </a:pPr>
            <a:r>
              <a:rPr lang="en-US" sz="1047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047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@Around</a:t>
            </a:r>
            <a:r>
              <a:rPr lang="en-US" sz="1047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47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"execution(* com.acme.service.*.*(..))"</a:t>
            </a:r>
            <a:r>
              <a:rPr lang="en-US" sz="1047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47" dirty="0"/>
          </a:p>
          <a:p>
            <a:pPr algn="l" indent="0" marL="0">
              <a:lnSpc>
                <a:spcPts val="1832"/>
              </a:lnSpc>
              <a:buNone/>
            </a:pPr>
            <a:r>
              <a:rPr lang="en-US" sz="1047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047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</a:t>
            </a:r>
            <a:r>
              <a:rPr lang="en-US" sz="1047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Object logExecutionTime(ProceedingJoinPoint pjp) </a:t>
            </a:r>
            <a:r>
              <a:rPr lang="en-US" sz="1047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throws</a:t>
            </a:r>
            <a:r>
              <a:rPr lang="en-US" sz="1047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Throwable {</a:t>
            </a:r>
            <a:endParaRPr lang="en-US" sz="1047" dirty="0"/>
          </a:p>
          <a:p>
            <a:pPr algn="l" indent="0" marL="0">
              <a:lnSpc>
                <a:spcPts val="1832"/>
              </a:lnSpc>
              <a:buNone/>
            </a:pPr>
            <a:r>
              <a:rPr lang="en-US" sz="1047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</a:t>
            </a:r>
            <a:r>
              <a:rPr lang="en-US" sz="1047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</a:t>
            </a:r>
            <a:r>
              <a:rPr lang="en-US" sz="1047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start = System.currentTimeMillis();</a:t>
            </a:r>
            <a:endParaRPr lang="en-US" sz="1047" dirty="0"/>
          </a:p>
          <a:p>
            <a:pPr algn="l" indent="0" marL="0">
              <a:lnSpc>
                <a:spcPts val="1832"/>
              </a:lnSpc>
              <a:buNone/>
            </a:pPr>
            <a:r>
              <a:rPr lang="en-US" sz="1047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Object result = pjp.proceed();</a:t>
            </a:r>
            <a:endParaRPr lang="en-US" sz="1047" dirty="0"/>
          </a:p>
          <a:p>
            <a:pPr algn="l" indent="0" marL="0">
              <a:lnSpc>
                <a:spcPts val="1832"/>
              </a:lnSpc>
              <a:buNone/>
            </a:pPr>
            <a:r>
              <a:rPr lang="en-US" sz="1047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</a:t>
            </a:r>
            <a:r>
              <a:rPr lang="en-US" sz="1047" dirty="0">
                <a:solidFill>
                  <a:srgbClr val="7C8F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runs around every service method — no changes to the services themselves</a:t>
            </a:r>
            <a:endParaRPr lang="en-US" sz="1047" dirty="0"/>
          </a:p>
          <a:p>
            <a:pPr algn="l" indent="0" marL="0">
              <a:lnSpc>
                <a:spcPts val="1832"/>
              </a:lnSpc>
              <a:buNone/>
            </a:pPr>
            <a:r>
              <a:rPr lang="en-US" sz="1047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log.info(pjp.getSignature() + </a:t>
            </a:r>
            <a:r>
              <a:rPr lang="en-US" sz="1047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 took "</a:t>
            </a:r>
            <a:r>
              <a:rPr lang="en-US" sz="1047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+ (System.currentTimeMillis() - start));</a:t>
            </a:r>
            <a:endParaRPr lang="en-US" sz="1047" dirty="0"/>
          </a:p>
          <a:p>
            <a:pPr algn="l" indent="0" marL="0">
              <a:lnSpc>
                <a:spcPts val="1832"/>
              </a:lnSpc>
              <a:buNone/>
            </a:pPr>
            <a:r>
              <a:rPr lang="en-US" sz="1047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</a:t>
            </a:r>
            <a:r>
              <a:rPr lang="en-US" sz="1047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r>
              <a:rPr lang="en-US" sz="1047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result;</a:t>
            </a:r>
            <a:endParaRPr lang="en-US" sz="1047" dirty="0"/>
          </a:p>
          <a:p>
            <a:pPr algn="l" indent="0" marL="0">
              <a:lnSpc>
                <a:spcPts val="1832"/>
              </a:lnSpc>
              <a:buNone/>
            </a:pPr>
            <a:r>
              <a:rPr lang="en-US" sz="1047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047" dirty="0"/>
          </a:p>
          <a:p>
            <a:pPr algn="l" indent="0" marL="0">
              <a:lnSpc>
                <a:spcPts val="1832"/>
              </a:lnSpc>
              <a:buNone/>
            </a:pPr>
            <a:r>
              <a:rPr lang="en-US" sz="1047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47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66925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FD1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534245"/>
            <a:ext cx="9810750" cy="1339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F7F8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Spring gives you loose coupling and testable code — with far less boilerplate than writing it all by hand.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4102695"/>
            <a:ext cx="1355477" cy="485130"/>
          </a:xfrm>
          <a:prstGeom prst="roundRect">
            <a:avLst>
              <a:gd name="adj" fmla="val 15707"/>
            </a:avLst>
          </a:prstGeom>
          <a:solidFill>
            <a:srgbClr val="1E2E23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4229695"/>
            <a:ext cx="105067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D6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IoC container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71477" y="4102695"/>
            <a:ext cx="1982043" cy="485130"/>
          </a:xfrm>
          <a:prstGeom prst="roundRect">
            <a:avLst>
              <a:gd name="adj" fmla="val 15707"/>
            </a:avLst>
          </a:prstGeom>
          <a:solidFill>
            <a:srgbClr val="1E2E23"/>
          </a:solidFill>
          <a:ln/>
        </p:spPr>
      </p:sp>
      <p:sp>
        <p:nvSpPr>
          <p:cNvPr id="7" name="Text 5"/>
          <p:cNvSpPr/>
          <p:nvPr/>
        </p:nvSpPr>
        <p:spPr>
          <a:xfrm>
            <a:off x="2549277" y="4229695"/>
            <a:ext cx="167724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D6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Dependency Injection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56720" y="4102695"/>
            <a:ext cx="2190204" cy="485130"/>
          </a:xfrm>
          <a:prstGeom prst="roundRect">
            <a:avLst>
              <a:gd name="adj" fmla="val 15707"/>
            </a:avLst>
          </a:prstGeom>
          <a:solidFill>
            <a:srgbClr val="1E2E23"/>
          </a:solidFill>
          <a:ln/>
        </p:spPr>
      </p:sp>
      <p:sp>
        <p:nvSpPr>
          <p:cNvPr id="9" name="Text 7"/>
          <p:cNvSpPr/>
          <p:nvPr/>
        </p:nvSpPr>
        <p:spPr>
          <a:xfrm>
            <a:off x="4734520" y="4229695"/>
            <a:ext cx="188964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D6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Annotation-driven beans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50125" y="4102695"/>
            <a:ext cx="675928" cy="485130"/>
          </a:xfrm>
          <a:prstGeom prst="roundRect">
            <a:avLst>
              <a:gd name="adj" fmla="val 15707"/>
            </a:avLst>
          </a:prstGeom>
          <a:solidFill>
            <a:srgbClr val="1E2E23"/>
          </a:solidFill>
          <a:ln/>
        </p:spPr>
      </p:sp>
      <p:sp>
        <p:nvSpPr>
          <p:cNvPr id="11" name="Text 9"/>
          <p:cNvSpPr/>
          <p:nvPr/>
        </p:nvSpPr>
        <p:spPr>
          <a:xfrm>
            <a:off x="7127925" y="4229695"/>
            <a:ext cx="37112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7D6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AOP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6DB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1621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 TWO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974876"/>
            <a:ext cx="10883392" cy="880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32"/>
              </a:lnSpc>
              <a:buNone/>
            </a:pPr>
            <a:r>
              <a:rPr lang="en-US" sz="6600" b="1" dirty="0">
                <a:solidFill>
                  <a:srgbClr val="1621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Spring Boot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812800" y="5742980"/>
            <a:ext cx="850265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Spring container underneath — with the setup work done for you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SPRING BOOT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 Annotated Spring Was Still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3021013"/>
            <a:ext cx="5023104" cy="1590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ts val="2465"/>
              </a:lnSpc>
              <a:buSzPct val="100000"/>
              <a:buChar char="•"/>
            </a:pPr>
            <a:r>
              <a:rPr lang="en-US" sz="1450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Pick compatible versions of a dozen libraries by hand</a:t>
            </a:r>
            <a:endParaRPr lang="en-US" sz="1450" dirty="0"/>
          </a:p>
          <a:p>
            <a:pPr algn="l" marL="342900" indent="-342900">
              <a:lnSpc>
                <a:spcPts val="2465"/>
              </a:lnSpc>
              <a:buSzPct val="100000"/>
              <a:buChar char="•"/>
            </a:pPr>
            <a:r>
              <a:rPr lang="en-US" sz="1450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@Configuration classes for common setups every project needs</a:t>
            </a:r>
            <a:endParaRPr lang="en-US" sz="1450" dirty="0"/>
          </a:p>
          <a:p>
            <a:pPr algn="l" marL="342900" indent="-342900">
              <a:lnSpc>
                <a:spcPts val="2465"/>
              </a:lnSpc>
              <a:buSzPct val="100000"/>
              <a:buChar char="•"/>
            </a:pPr>
            <a:r>
              <a:rPr lang="en-US" sz="1450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Install and configure an external servlet container</a:t>
            </a:r>
            <a:endParaRPr lang="en-US" sz="1450" dirty="0"/>
          </a:p>
          <a:p>
            <a:pPr algn="l" marL="342900" indent="-342900">
              <a:lnSpc>
                <a:spcPts val="2465"/>
              </a:lnSpc>
              <a:buSzPct val="100000"/>
              <a:buChar char="•"/>
            </a:pPr>
            <a:r>
              <a:rPr lang="en-US" sz="1450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your own health checks and metrics from scratch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94400" y="1765250"/>
            <a:ext cx="5384800" cy="4076750"/>
          </a:xfrm>
          <a:prstGeom prst="roundRect">
            <a:avLst>
              <a:gd name="adj" fmla="val 3115"/>
            </a:avLst>
          </a:prstGeom>
          <a:solidFill>
            <a:srgbClr val="EEF1E7"/>
          </a:solidFill>
          <a:ln/>
        </p:spPr>
      </p:sp>
      <p:sp>
        <p:nvSpPr>
          <p:cNvPr id="6" name="Text 4"/>
          <p:cNvSpPr/>
          <p:nvPr/>
        </p:nvSpPr>
        <p:spPr>
          <a:xfrm>
            <a:off x="6248400" y="3345160"/>
            <a:ext cx="502310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question Spring Boot asks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48400" y="3690590"/>
            <a:ext cx="5023104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"What if most Spring apps agreed on sensible defaults — and you only configured what makes yours different?"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SPRING BOOT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Spring Boot?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587450"/>
            <a:ext cx="948372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opinionated layer on top of the Spring Framework — same container, same annotations, radically less setup.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2090341"/>
            <a:ext cx="2527300" cy="3751659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/>
        </p:spPr>
      </p:sp>
      <p:pic>
        <p:nvPicPr>
          <p:cNvPr id="6" name="Image 0" descr="Setting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6000" y="2293541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6000" y="2611041"/>
            <a:ext cx="2184527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Auto-Configuration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16000" y="2898031"/>
            <a:ext cx="218452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Beans configure themselves based on what's on the classpath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92500" y="2090341"/>
            <a:ext cx="2527300" cy="3751659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/>
        </p:spPr>
      </p:sp>
      <p:pic>
        <p:nvPicPr>
          <p:cNvPr id="10" name="Image 1" descr="Boo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95700" y="2293541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95700" y="2611041"/>
            <a:ext cx="2184527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Starters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695700" y="2898031"/>
            <a:ext cx="218452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dependency pulls in a curated, compatible library set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72200" y="2090341"/>
            <a:ext cx="2527300" cy="3751659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/>
        </p:spPr>
      </p:sp>
      <p:pic>
        <p:nvPicPr>
          <p:cNvPr id="14" name="Image 2" descr="Play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75400" y="2293541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75400" y="2611041"/>
            <a:ext cx="2184527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Embedded Server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375400" y="2898031"/>
            <a:ext cx="218452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Tomcat ships inside your jar — run it with java -jar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851900" y="2090341"/>
            <a:ext cx="2527300" cy="3751659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/>
        </p:spPr>
      </p:sp>
      <p:pic>
        <p:nvPicPr>
          <p:cNvPr id="18" name="Image 3" descr="Activity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55100" y="2293541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55100" y="2611041"/>
            <a:ext cx="2184527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Actuator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9055100" y="2898031"/>
            <a:ext cx="2184527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Health checks, metrics, and ops endpoints out of the box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SPRING BOOT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Starters: One Dependency, Whole Stack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39850"/>
          <a:ext cx="5381327" cy="2298700"/>
        </p:xfrm>
        <a:graphic>
          <a:graphicData uri="http://schemas.openxmlformats.org/drawingml/2006/table">
            <a:tbl>
              <a:tblPr/>
              <a:tblGrid>
                <a:gridCol w="2690664"/>
                <a:gridCol w="2690664"/>
              </a:tblGrid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8FD14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Starter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F7F8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Brings in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1A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spring-boot-starter-web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Spring MVC + embedded Tomcat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spring-boot-starter-data-jpa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Spring Data JPA + Hibernate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7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spring-boot-starter-security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Authentication and authorization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spring-boot-starter-validation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Bean Validation (jakarta.validation)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E7"/>
                    </a:solidFill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spring-boot-starter-test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JUnit, Mockito, Spring Test</a:t>
                      </a:r>
                      <a:endParaRPr lang="en-US" sz="12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5563" marR="55563" marT="55563" marB="55563" anchor="t">
                    <a:lnL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A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48127" y="1739850"/>
            <a:ext cx="4931073" cy="4102150"/>
          </a:xfrm>
          <a:prstGeom prst="roundRect">
            <a:avLst>
              <a:gd name="adj" fmla="val 2477"/>
            </a:avLst>
          </a:prstGeom>
          <a:solidFill>
            <a:srgbClr val="101B12"/>
          </a:solidFill>
          <a:ln/>
        </p:spPr>
      </p:sp>
      <p:sp>
        <p:nvSpPr>
          <p:cNvPr id="6" name="Text 3"/>
          <p:cNvSpPr/>
          <p:nvPr/>
        </p:nvSpPr>
        <p:spPr>
          <a:xfrm>
            <a:off x="6676727" y="1968450"/>
            <a:ext cx="4608089" cy="2507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5"/>
              </a:lnSpc>
              <a:buNone/>
            </a:pPr>
            <a:r>
              <a:rPr lang="en-US" sz="1150" dirty="0">
                <a:solidFill>
                  <a:srgbClr val="7C8F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&lt;!-- pom.xml --&gt;</a:t>
            </a:r>
            <a:endParaRPr lang="en-US" sz="1150" dirty="0"/>
          </a:p>
          <a:p>
            <a:pPr algn="l" indent="0" marL="0">
              <a:lnSpc>
                <a:spcPts val="1955"/>
              </a:lnSpc>
              <a:buNone/>
            </a:pPr>
            <a:r>
              <a:rPr lang="en-US" sz="115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&lt;dependency&gt;</a:t>
            </a:r>
            <a:endParaRPr lang="en-US" sz="1150" dirty="0"/>
          </a:p>
          <a:p>
            <a:pPr algn="l" indent="0" marL="0">
              <a:lnSpc>
                <a:spcPts val="1955"/>
              </a:lnSpc>
              <a:buNone/>
            </a:pPr>
            <a:r>
              <a:rPr lang="en-US" sz="115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&lt;groupId&gt;org.springframework.boot&lt;/groupId&gt;</a:t>
            </a:r>
            <a:endParaRPr lang="en-US" sz="1150" dirty="0"/>
          </a:p>
          <a:p>
            <a:pPr algn="l" indent="0" marL="0">
              <a:lnSpc>
                <a:spcPts val="1955"/>
              </a:lnSpc>
              <a:buNone/>
            </a:pPr>
            <a:r>
              <a:rPr lang="en-US" sz="115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&lt;artifactId&gt;</a:t>
            </a:r>
            <a:r>
              <a:rPr lang="en-US" sz="115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spring-boot-starter-web</a:t>
            </a:r>
            <a:r>
              <a:rPr lang="en-US" sz="115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&lt;/artifactId&gt;</a:t>
            </a:r>
            <a:endParaRPr lang="en-US" sz="1150" dirty="0"/>
          </a:p>
          <a:p>
            <a:pPr algn="l" indent="0" marL="0">
              <a:lnSpc>
                <a:spcPts val="1955"/>
              </a:lnSpc>
              <a:buNone/>
            </a:pPr>
            <a:r>
              <a:rPr lang="en-US" sz="115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&lt;/dependency&gt;</a:t>
            </a:r>
            <a:endParaRPr lang="en-US" sz="1150" dirty="0"/>
          </a:p>
          <a:p>
            <a:pPr algn="l" indent="0" marL="0">
              <a:lnSpc>
                <a:spcPts val="1955"/>
              </a:lnSpc>
              <a:buNone/>
            </a:pPr>
            <a:r>
              <a:rPr lang="en-US" sz="115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&lt;dependency&gt;</a:t>
            </a:r>
            <a:endParaRPr lang="en-US" sz="1150" dirty="0"/>
          </a:p>
          <a:p>
            <a:pPr algn="l" indent="0" marL="0">
              <a:lnSpc>
                <a:spcPts val="1955"/>
              </a:lnSpc>
              <a:buNone/>
            </a:pPr>
            <a:r>
              <a:rPr lang="en-US" sz="115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&lt;groupId&gt;org.springframework.boot&lt;/groupId&gt;</a:t>
            </a:r>
            <a:endParaRPr lang="en-US" sz="1150" dirty="0"/>
          </a:p>
          <a:p>
            <a:pPr algn="l" indent="0" marL="0">
              <a:lnSpc>
                <a:spcPts val="1955"/>
              </a:lnSpc>
              <a:buNone/>
            </a:pPr>
            <a:r>
              <a:rPr lang="en-US" sz="115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&lt;artifactId&gt;</a:t>
            </a:r>
            <a:r>
              <a:rPr lang="en-US" sz="115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spring-boot-starter-data-jpa</a:t>
            </a:r>
            <a:r>
              <a:rPr lang="en-US" sz="115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&lt;/artifactId&gt;</a:t>
            </a:r>
            <a:endParaRPr lang="en-US" sz="1150" dirty="0"/>
          </a:p>
          <a:p>
            <a:pPr algn="l" indent="0" marL="0">
              <a:lnSpc>
                <a:spcPts val="1955"/>
              </a:lnSpc>
              <a:buNone/>
            </a:pPr>
            <a:r>
              <a:rPr lang="en-US" sz="115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&lt;/dependency&gt;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SPRING BOOT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Starting an Application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39850"/>
            <a:ext cx="10566400" cy="3416350"/>
          </a:xfrm>
          <a:prstGeom prst="roundRect">
            <a:avLst>
              <a:gd name="adj" fmla="val 2974"/>
            </a:avLst>
          </a:prstGeom>
          <a:solidFill>
            <a:srgbClr val="101B12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1993850"/>
            <a:ext cx="10360152" cy="218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@SpringBootApplication</a:t>
            </a:r>
            <a:endParaRPr lang="en-US" sz="135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class</a:t>
            </a:r>
            <a:r>
              <a:rPr lang="en-US" sz="135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CatalogApplication {</a:t>
            </a:r>
            <a:endParaRPr lang="en-US" sz="1350" dirty="0"/>
          </a:p>
          <a:p>
            <a:pPr algn="l" indent="0" marL="0">
              <a:lnSpc>
                <a:spcPts val="2430"/>
              </a:lnSpc>
              <a:buNone/>
            </a:pPr>
            <a:endParaRPr lang="en-US" sz="135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35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static void</a:t>
            </a:r>
            <a:r>
              <a:rPr lang="en-US" sz="135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main(String[] args) {</a:t>
            </a:r>
            <a:endParaRPr lang="en-US" sz="135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SpringApplication.run(CatalogApplication.</a:t>
            </a:r>
            <a:r>
              <a:rPr lang="en-US" sz="135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</a:t>
            </a:r>
            <a:r>
              <a:rPr lang="en-US" sz="135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args);</a:t>
            </a:r>
            <a:endParaRPr lang="en-US" sz="135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35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12800" y="5384800"/>
            <a:ext cx="533704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@SpringBootApplication</a:t>
            </a:r>
            <a:r>
              <a:rPr lang="en-US" sz="12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combines @Configuration, @EnableAutoConfiguration, and @ComponentScan into one annotation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97600" y="5384800"/>
            <a:ext cx="533704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it with </a:t>
            </a:r>
            <a:r>
              <a:rPr lang="en-US" sz="1200" b="1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java -jar app.jar</a:t>
            </a:r>
            <a:r>
              <a:rPr lang="en-US" sz="12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Tomcat starts embedded, no separate server install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E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SPRING BOOT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Externalized Configuration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587450"/>
            <a:ext cx="948372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file per environment, read automatically — no code changes to move from dev to production.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2064941"/>
            <a:ext cx="5384800" cy="3777059"/>
          </a:xfrm>
          <a:prstGeom prst="roundRect">
            <a:avLst>
              <a:gd name="adj" fmla="val 2690"/>
            </a:avLst>
          </a:prstGeom>
          <a:solidFill>
            <a:srgbClr val="101B12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2293541"/>
            <a:ext cx="507542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7C8F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application.yml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41400" y="2565301"/>
            <a:ext cx="5075428" cy="2356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server:</a:t>
            </a: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port: </a:t>
            </a:r>
            <a:r>
              <a:rPr lang="en-US" sz="120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8080</a:t>
            </a: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spring:</a:t>
            </a: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datasource:</a:t>
            </a: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url: </a:t>
            </a:r>
            <a:r>
              <a:rPr lang="en-US" sz="120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jdbc:postgresql://db:5432/catalog</a:t>
            </a: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username: </a:t>
            </a:r>
            <a:r>
              <a:rPr lang="en-US" sz="120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${DB_USER}</a:t>
            </a: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logging:</a:t>
            </a: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level:</a:t>
            </a:r>
            <a:endParaRPr lang="en-US" sz="12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com.acme: </a:t>
            </a:r>
            <a:r>
              <a:rPr lang="en-US" sz="120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DEBUG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51600" y="3115965"/>
            <a:ext cx="507542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with @Value or @ConfigurationProperties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51600" y="3385195"/>
            <a:ext cx="5075428" cy="229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Bind whole sections of config to a typed Java object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51600" y="3716635"/>
            <a:ext cx="507542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Profile-specific overrides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51600" y="3985865"/>
            <a:ext cx="5075428" cy="229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application-prod.yml overrides values for the "prod" profile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51600" y="4317305"/>
            <a:ext cx="507542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Environment variables win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51600" y="4586536"/>
            <a:ext cx="5075428" cy="229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${DB_USER} is resolved from the environment at startup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2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8FD1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 THREE · MAIN FOCUS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655639"/>
            <a:ext cx="10883392" cy="151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dirty="0">
                <a:solidFill>
                  <a:srgbClr val="F7F8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REST</a:t>
            </a:r>
            <a:endParaRPr lang="en-US" sz="5600" dirty="0"/>
          </a:p>
          <a:p>
            <a:pPr algn="l" indent="0" marL="0">
              <a:lnSpc>
                <a:spcPts val="5880"/>
              </a:lnSpc>
              <a:buNone/>
            </a:pPr>
            <a:r>
              <a:rPr lang="en-US" sz="5600" b="1" dirty="0">
                <a:solidFill>
                  <a:srgbClr val="F7F8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5742980"/>
            <a:ext cx="850265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C7D6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a bare controller to a production-shaped API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REST SERVICES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Anatomy of a REST Controller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39850"/>
            <a:ext cx="5855841" cy="4102150"/>
          </a:xfrm>
          <a:prstGeom prst="roundRect">
            <a:avLst>
              <a:gd name="adj" fmla="val 2477"/>
            </a:avLst>
          </a:prstGeom>
          <a:solidFill>
            <a:srgbClr val="101B12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1993850"/>
            <a:ext cx="5508276" cy="3294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30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@RestController</a:t>
            </a:r>
            <a:endParaRPr lang="en-US" sz="1300" dirty="0"/>
          </a:p>
          <a:p>
            <a:pPr algn="l" indent="0" marL="0">
              <a:lnSpc>
                <a:spcPts val="2340"/>
              </a:lnSpc>
              <a:buNone/>
            </a:pPr>
            <a:r>
              <a:rPr lang="en-US" sz="130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@RequestMapping</a:t>
            </a:r>
            <a:r>
              <a:rPr lang="en-US" sz="13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30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"/api/products"</a:t>
            </a:r>
            <a:r>
              <a:rPr lang="en-US" sz="13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00" dirty="0"/>
          </a:p>
          <a:p>
            <a:pPr algn="l" indent="0" marL="0">
              <a:lnSpc>
                <a:spcPts val="2340"/>
              </a:lnSpc>
              <a:buNone/>
            </a:pPr>
            <a:r>
              <a:rPr lang="en-US" sz="130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class</a:t>
            </a:r>
            <a:r>
              <a:rPr lang="en-US" sz="13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ProductController {</a:t>
            </a:r>
            <a:endParaRPr lang="en-US" sz="1300" dirty="0"/>
          </a:p>
          <a:p>
            <a:pPr algn="l" indent="0" marL="0">
              <a:lnSpc>
                <a:spcPts val="2340"/>
              </a:lnSpc>
              <a:buNone/>
            </a:pPr>
            <a:endParaRPr lang="en-US" sz="1300" dirty="0"/>
          </a:p>
          <a:p>
            <a:pPr algn="l" indent="0" marL="0">
              <a:lnSpc>
                <a:spcPts val="2340"/>
              </a:lnSpc>
              <a:buNone/>
            </a:pPr>
            <a:r>
              <a:rPr lang="en-US" sz="13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30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private final</a:t>
            </a:r>
            <a:r>
              <a:rPr lang="en-US" sz="13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ProductService service;</a:t>
            </a:r>
            <a:endParaRPr lang="en-US" sz="1300" dirty="0"/>
          </a:p>
          <a:p>
            <a:pPr algn="l" indent="0" marL="0">
              <a:lnSpc>
                <a:spcPts val="2340"/>
              </a:lnSpc>
              <a:buNone/>
            </a:pPr>
            <a:endParaRPr lang="en-US" sz="1300" dirty="0"/>
          </a:p>
          <a:p>
            <a:pPr algn="l" indent="0" marL="0">
              <a:lnSpc>
                <a:spcPts val="2340"/>
              </a:lnSpc>
              <a:buNone/>
            </a:pPr>
            <a:r>
              <a:rPr lang="en-US" sz="13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ProductController(ProductService service) {</a:t>
            </a:r>
            <a:endParaRPr lang="en-US" sz="1300" dirty="0"/>
          </a:p>
          <a:p>
            <a:pPr algn="l" indent="0" marL="0">
              <a:lnSpc>
                <a:spcPts val="2340"/>
              </a:lnSpc>
              <a:buNone/>
            </a:pPr>
            <a:r>
              <a:rPr lang="en-US" sz="13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</a:t>
            </a:r>
            <a:r>
              <a:rPr lang="en-US" sz="130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this</a:t>
            </a:r>
            <a:r>
              <a:rPr lang="en-US" sz="13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.service = service;</a:t>
            </a:r>
            <a:endParaRPr lang="en-US" sz="1300" dirty="0"/>
          </a:p>
          <a:p>
            <a:pPr algn="l" indent="0" marL="0">
              <a:lnSpc>
                <a:spcPts val="2340"/>
              </a:lnSpc>
              <a:buNone/>
            </a:pPr>
            <a:r>
              <a:rPr lang="en-US" sz="13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300" dirty="0"/>
          </a:p>
          <a:p>
            <a:pPr algn="l" indent="0" marL="0">
              <a:lnSpc>
                <a:spcPts val="2340"/>
              </a:lnSpc>
              <a:buNone/>
            </a:pPr>
            <a:r>
              <a:rPr lang="en-US" sz="13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300" dirty="0">
                <a:solidFill>
                  <a:srgbClr val="7C8F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handler methods go here</a:t>
            </a:r>
            <a:endParaRPr lang="en-US" sz="1300" dirty="0"/>
          </a:p>
          <a:p>
            <a:pPr algn="l" indent="0" marL="0">
              <a:lnSpc>
                <a:spcPts val="2340"/>
              </a:lnSpc>
              <a:buNone/>
            </a:pPr>
            <a:r>
              <a:rPr lang="en-US" sz="13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922641" y="2830860"/>
            <a:ext cx="45902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B8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@RestController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2641" y="3100090"/>
            <a:ext cx="459025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@Controller whose methods return data (JSON), not view names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22641" y="3666430"/>
            <a:ext cx="45902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B8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@RequestMapping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2641" y="3935661"/>
            <a:ext cx="45902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Sets the base path shared by every handler method below 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22641" y="4288681"/>
            <a:ext cx="459025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constructor is injected automatically — no @Autowired needed on a single constructor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E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REST SERVICES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Mapping HTTP Verbs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14450"/>
          <a:ext cx="10566400" cy="2155924"/>
        </p:xfrm>
        <a:graphic>
          <a:graphicData uri="http://schemas.openxmlformats.org/drawingml/2006/table">
            <a:tbl>
              <a:tblPr/>
              <a:tblGrid>
                <a:gridCol w="2535936"/>
                <a:gridCol w="1479296"/>
                <a:gridCol w="6551168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8FD14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Annotation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8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Verb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8F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Typical use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1A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@GetMapping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Read one resource or a collection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@PostMapping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POST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Create a new resource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3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@PutMapping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Replace a resource entirely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@PatchMapping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PATCH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Update part of a resource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3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@DeleteMapping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DELETE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6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Remove a resource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4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086275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is shorthand for @RequestMapping(method = RequestMethod.GET), and so on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REST SERVICES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Getting Data Out of a Request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39850"/>
            <a:ext cx="5855841" cy="4102150"/>
          </a:xfrm>
          <a:prstGeom prst="roundRect">
            <a:avLst>
              <a:gd name="adj" fmla="val 2477"/>
            </a:avLst>
          </a:prstGeom>
          <a:solidFill>
            <a:srgbClr val="101B12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1993850"/>
            <a:ext cx="5508276" cy="3316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@GetMapping</a:t>
            </a: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20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"/{id}"</a:t>
            </a: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</a:t>
            </a: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Product getById(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20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@PathVariable</a:t>
            </a: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Long id) { ... }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@GetMapping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</a:t>
            </a: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List&lt;Product&gt; search(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20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@RequestParam</a:t>
            </a: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20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required = false</a:t>
            </a: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String category) { ... }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@PostMapping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</a:t>
            </a: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Product create(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20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@RequestBody</a:t>
            </a: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0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@Valid</a:t>
            </a:r>
            <a:r>
              <a:rPr lang="en-US" sz="120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ProductRequest request) { ... 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22641" y="2688580"/>
            <a:ext cx="4590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8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@PathVariable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922641" y="2948930"/>
            <a:ext cx="459025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Pulls a value out of the URL path, like the id in /products/42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22641" y="3271490"/>
            <a:ext cx="4590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8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@RequestParam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922641" y="3531840"/>
            <a:ext cx="459025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Reads a query string parameter, like ?category=books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22641" y="3854400"/>
            <a:ext cx="4590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8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@RequestBody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922641" y="4114750"/>
            <a:ext cx="459025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Deserializes the JSON request body into a Java object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22641" y="4437311"/>
            <a:ext cx="4590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B8B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@Valid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922641" y="4697661"/>
            <a:ext cx="459025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Triggers Bean Validation on the deserialized object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62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FD1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REST SERVICES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F7F8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Putting It Together: A Full Controller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14450"/>
            <a:ext cx="10566400" cy="4127550"/>
          </a:xfrm>
          <a:prstGeom prst="roundRect">
            <a:avLst>
              <a:gd name="adj" fmla="val 2462"/>
            </a:avLst>
          </a:prstGeom>
          <a:solidFill>
            <a:srgbClr val="0D1610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1943050"/>
            <a:ext cx="10412476" cy="369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04"/>
              </a:lnSpc>
              <a:buNone/>
            </a:pPr>
            <a:r>
              <a:rPr lang="en-US" sz="73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@RestController</a:t>
            </a:r>
            <a:endParaRPr lang="en-US" sz="730" dirty="0"/>
          </a:p>
          <a:p>
            <a:pPr algn="l" indent="0" marL="0">
              <a:lnSpc>
                <a:spcPts val="1204"/>
              </a:lnSpc>
              <a:buNone/>
            </a:pPr>
            <a:r>
              <a:rPr lang="en-US" sz="73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@RequestMapping</a:t>
            </a: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73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"/api/products"</a:t>
            </a: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730" dirty="0"/>
          </a:p>
          <a:p>
            <a:pPr algn="l" indent="0" marL="0">
              <a:lnSpc>
                <a:spcPts val="1204"/>
              </a:lnSpc>
              <a:buNone/>
            </a:pPr>
            <a:r>
              <a:rPr lang="en-US" sz="73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class</a:t>
            </a: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ProductController {</a:t>
            </a:r>
            <a:endParaRPr lang="en-US" sz="730" dirty="0"/>
          </a:p>
          <a:p>
            <a:pPr algn="l" indent="0" marL="0">
              <a:lnSpc>
                <a:spcPts val="1204"/>
              </a:lnSpc>
              <a:buNone/>
            </a:pPr>
            <a:endParaRPr lang="en-US" sz="730" dirty="0"/>
          </a:p>
          <a:p>
            <a:pPr algn="l" indent="0" marL="0">
              <a:lnSpc>
                <a:spcPts val="1204"/>
              </a:lnSpc>
              <a:buNone/>
            </a:pP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73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private final</a:t>
            </a: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ProductService service;</a:t>
            </a:r>
            <a:endParaRPr lang="en-US" sz="730" dirty="0"/>
          </a:p>
          <a:p>
            <a:pPr algn="l" indent="0" marL="0">
              <a:lnSpc>
                <a:spcPts val="1204"/>
              </a:lnSpc>
              <a:buNone/>
            </a:pPr>
            <a:endParaRPr lang="en-US" sz="730" dirty="0"/>
          </a:p>
          <a:p>
            <a:pPr algn="l" indent="0" marL="0">
              <a:lnSpc>
                <a:spcPts val="1204"/>
              </a:lnSpc>
              <a:buNone/>
            </a:pP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ProductController(ProductService service) { </a:t>
            </a:r>
            <a:r>
              <a:rPr lang="en-US" sz="73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this</a:t>
            </a: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.service = service; }</a:t>
            </a:r>
            <a:endParaRPr lang="en-US" sz="730" dirty="0"/>
          </a:p>
          <a:p>
            <a:pPr algn="l" indent="0" marL="0">
              <a:lnSpc>
                <a:spcPts val="1204"/>
              </a:lnSpc>
              <a:buNone/>
            </a:pPr>
            <a:endParaRPr lang="en-US" sz="730" dirty="0"/>
          </a:p>
          <a:p>
            <a:pPr algn="l" indent="0" marL="0">
              <a:lnSpc>
                <a:spcPts val="1204"/>
              </a:lnSpc>
              <a:buNone/>
            </a:pP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73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@GetMapping</a:t>
            </a:r>
            <a:endParaRPr lang="en-US" sz="730" dirty="0"/>
          </a:p>
          <a:p>
            <a:pPr algn="l" indent="0" marL="0">
              <a:lnSpc>
                <a:spcPts val="1204"/>
              </a:lnSpc>
              <a:buNone/>
            </a:pP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73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</a:t>
            </a: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List&lt;Product&gt; findAll() { </a:t>
            </a:r>
            <a:r>
              <a:rPr lang="en-US" sz="73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service.findAll(); }</a:t>
            </a:r>
            <a:endParaRPr lang="en-US" sz="730" dirty="0"/>
          </a:p>
          <a:p>
            <a:pPr algn="l" indent="0" marL="0">
              <a:lnSpc>
                <a:spcPts val="1204"/>
              </a:lnSpc>
              <a:buNone/>
            </a:pPr>
            <a:endParaRPr lang="en-US" sz="730" dirty="0"/>
          </a:p>
          <a:p>
            <a:pPr algn="l" indent="0" marL="0">
              <a:lnSpc>
                <a:spcPts val="1204"/>
              </a:lnSpc>
              <a:buNone/>
            </a:pP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73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@GetMapping</a:t>
            </a: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73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"/{id}"</a:t>
            </a: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730" dirty="0"/>
          </a:p>
          <a:p>
            <a:pPr algn="l" indent="0" marL="0">
              <a:lnSpc>
                <a:spcPts val="1204"/>
              </a:lnSpc>
              <a:buNone/>
            </a:pP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73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</a:t>
            </a: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Product findById(</a:t>
            </a:r>
            <a:r>
              <a:rPr lang="en-US" sz="73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@PathVariable</a:t>
            </a: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Long id) { </a:t>
            </a:r>
            <a:r>
              <a:rPr lang="en-US" sz="73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service.findById(id); }</a:t>
            </a:r>
            <a:endParaRPr lang="en-US" sz="730" dirty="0"/>
          </a:p>
          <a:p>
            <a:pPr algn="l" indent="0" marL="0">
              <a:lnSpc>
                <a:spcPts val="1204"/>
              </a:lnSpc>
              <a:buNone/>
            </a:pPr>
            <a:endParaRPr lang="en-US" sz="730" dirty="0"/>
          </a:p>
          <a:p>
            <a:pPr algn="l" indent="0" marL="0">
              <a:lnSpc>
                <a:spcPts val="1204"/>
              </a:lnSpc>
              <a:buNone/>
            </a:pP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73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@PostMapping</a:t>
            </a:r>
            <a:endParaRPr lang="en-US" sz="730" dirty="0"/>
          </a:p>
          <a:p>
            <a:pPr algn="l" indent="0" marL="0">
              <a:lnSpc>
                <a:spcPts val="1204"/>
              </a:lnSpc>
              <a:buNone/>
            </a:pP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73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@ResponseStatus</a:t>
            </a: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(HttpStatus.CREATED)</a:t>
            </a:r>
            <a:endParaRPr lang="en-US" sz="730" dirty="0"/>
          </a:p>
          <a:p>
            <a:pPr algn="l" indent="0" marL="0">
              <a:lnSpc>
                <a:spcPts val="1204"/>
              </a:lnSpc>
              <a:buNone/>
            </a:pP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73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</a:t>
            </a: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Product create(</a:t>
            </a:r>
            <a:r>
              <a:rPr lang="en-US" sz="73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@RequestBody</a:t>
            </a: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73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@Valid</a:t>
            </a: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ProductRequest request) {</a:t>
            </a:r>
            <a:endParaRPr lang="en-US" sz="730" dirty="0"/>
          </a:p>
          <a:p>
            <a:pPr algn="l" indent="0" marL="0">
              <a:lnSpc>
                <a:spcPts val="1204"/>
              </a:lnSpc>
              <a:buNone/>
            </a:pP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</a:t>
            </a:r>
            <a:r>
              <a:rPr lang="en-US" sz="73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service.create(request);</a:t>
            </a:r>
            <a:endParaRPr lang="en-US" sz="730" dirty="0"/>
          </a:p>
          <a:p>
            <a:pPr algn="l" indent="0" marL="0">
              <a:lnSpc>
                <a:spcPts val="1204"/>
              </a:lnSpc>
              <a:buNone/>
            </a:pP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730" dirty="0"/>
          </a:p>
          <a:p>
            <a:pPr algn="l" indent="0" marL="0">
              <a:lnSpc>
                <a:spcPts val="1204"/>
              </a:lnSpc>
              <a:buNone/>
            </a:pPr>
            <a:endParaRPr lang="en-US" sz="730" dirty="0"/>
          </a:p>
          <a:p>
            <a:pPr algn="l" indent="0" marL="0">
              <a:lnSpc>
                <a:spcPts val="1204"/>
              </a:lnSpc>
              <a:buNone/>
            </a:pP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73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@DeleteMapping</a:t>
            </a: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73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"/{id}"</a:t>
            </a: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730" dirty="0"/>
          </a:p>
          <a:p>
            <a:pPr algn="l" indent="0" marL="0">
              <a:lnSpc>
                <a:spcPts val="1204"/>
              </a:lnSpc>
              <a:buNone/>
            </a:pP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73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@ResponseStatus</a:t>
            </a: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(HttpStatus.NO_CONTENT)</a:t>
            </a:r>
            <a:endParaRPr lang="en-US" sz="730" dirty="0"/>
          </a:p>
          <a:p>
            <a:pPr algn="l" indent="0" marL="0">
              <a:lnSpc>
                <a:spcPts val="1204"/>
              </a:lnSpc>
              <a:buNone/>
            </a:pP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73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void</a:t>
            </a: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delete(</a:t>
            </a:r>
            <a:r>
              <a:rPr lang="en-US" sz="73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@PathVariable</a:t>
            </a: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Long id) { service.delete(id); }</a:t>
            </a:r>
            <a:endParaRPr lang="en-US" sz="730" dirty="0"/>
          </a:p>
          <a:p>
            <a:pPr algn="l" indent="0" marL="0">
              <a:lnSpc>
                <a:spcPts val="1204"/>
              </a:lnSpc>
              <a:buNone/>
            </a:pPr>
            <a:r>
              <a:rPr lang="en-US" sz="73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73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REST SERVICES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Service and Repository Layers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14450"/>
            <a:ext cx="4116933" cy="535930"/>
          </a:xfrm>
          <a:prstGeom prst="roundRect">
            <a:avLst>
              <a:gd name="adj" fmla="val 16588"/>
            </a:avLst>
          </a:prstGeom>
          <a:solidFill>
            <a:srgbClr val="EEF1E7"/>
          </a:solidFill>
          <a:ln/>
        </p:spPr>
      </p:sp>
      <p:sp>
        <p:nvSpPr>
          <p:cNvPr id="5" name="Text 3"/>
          <p:cNvSpPr/>
          <p:nvPr/>
        </p:nvSpPr>
        <p:spPr>
          <a:xfrm>
            <a:off x="934180" y="1866850"/>
            <a:ext cx="387417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6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@RestController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51046" y="2351980"/>
            <a:ext cx="42404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HTTP in, HTTP out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00" y="2666901"/>
            <a:ext cx="4116933" cy="535930"/>
          </a:xfrm>
          <a:prstGeom prst="roundRect">
            <a:avLst>
              <a:gd name="adj" fmla="val 16588"/>
            </a:avLst>
          </a:prstGeom>
          <a:solidFill>
            <a:srgbClr val="EEF1E7"/>
          </a:solidFill>
          <a:ln/>
        </p:spPr>
      </p:sp>
      <p:sp>
        <p:nvSpPr>
          <p:cNvPr id="8" name="Text 6"/>
          <p:cNvSpPr/>
          <p:nvPr/>
        </p:nvSpPr>
        <p:spPr>
          <a:xfrm>
            <a:off x="934180" y="2819301"/>
            <a:ext cx="387417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6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@Service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1046" y="3304431"/>
            <a:ext cx="42404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rules, transactions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2800" y="3619351"/>
            <a:ext cx="4116933" cy="535930"/>
          </a:xfrm>
          <a:prstGeom prst="roundRect">
            <a:avLst>
              <a:gd name="adj" fmla="val 16588"/>
            </a:avLst>
          </a:prstGeom>
          <a:solidFill>
            <a:srgbClr val="EEF1E7"/>
          </a:solidFill>
          <a:ln/>
        </p:spPr>
      </p:sp>
      <p:sp>
        <p:nvSpPr>
          <p:cNvPr id="11" name="Text 9"/>
          <p:cNvSpPr/>
          <p:nvPr/>
        </p:nvSpPr>
        <p:spPr>
          <a:xfrm>
            <a:off x="934180" y="3771751"/>
            <a:ext cx="387417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6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1046" y="4256881"/>
            <a:ext cx="42404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Talks to the database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58333" y="1714450"/>
            <a:ext cx="6220867" cy="4127550"/>
          </a:xfrm>
          <a:prstGeom prst="roundRect">
            <a:avLst>
              <a:gd name="adj" fmla="val 2462"/>
            </a:avLst>
          </a:prstGeom>
          <a:solidFill>
            <a:srgbClr val="101B12"/>
          </a:solidFill>
          <a:ln/>
        </p:spPr>
      </p:sp>
      <p:sp>
        <p:nvSpPr>
          <p:cNvPr id="14" name="Text 12"/>
          <p:cNvSpPr/>
          <p:nvPr/>
        </p:nvSpPr>
        <p:spPr>
          <a:xfrm>
            <a:off x="5386933" y="1943050"/>
            <a:ext cx="5936577" cy="369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8"/>
              </a:lnSpc>
              <a:buNone/>
            </a:pPr>
            <a:r>
              <a:rPr lang="en-US" sz="92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interface</a:t>
            </a:r>
            <a:r>
              <a:rPr lang="en-US" sz="92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ProductRepository</a:t>
            </a:r>
            <a:endParaRPr lang="en-US" sz="920" dirty="0"/>
          </a:p>
          <a:p>
            <a:pPr algn="l" indent="0" marL="0">
              <a:lnSpc>
                <a:spcPts val="1518"/>
              </a:lnSpc>
              <a:buNone/>
            </a:pPr>
            <a:r>
              <a:rPr lang="en-US" sz="92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92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extends</a:t>
            </a:r>
            <a:r>
              <a:rPr lang="en-US" sz="92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JpaRepository&lt;Product, Long&gt; {</a:t>
            </a:r>
            <a:endParaRPr lang="en-US" sz="920" dirty="0"/>
          </a:p>
          <a:p>
            <a:pPr algn="l" indent="0" marL="0">
              <a:lnSpc>
                <a:spcPts val="1518"/>
              </a:lnSpc>
              <a:buNone/>
            </a:pPr>
            <a:r>
              <a:rPr lang="en-US" sz="92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920" dirty="0">
                <a:solidFill>
                  <a:srgbClr val="7C8F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Spring Data generates the implementation</a:t>
            </a:r>
            <a:endParaRPr lang="en-US" sz="920" dirty="0"/>
          </a:p>
          <a:p>
            <a:pPr algn="l" indent="0" marL="0">
              <a:lnSpc>
                <a:spcPts val="1518"/>
              </a:lnSpc>
              <a:buNone/>
            </a:pPr>
            <a:r>
              <a:rPr lang="en-US" sz="92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List&lt;Product&gt; findByCategory(String category);</a:t>
            </a:r>
            <a:endParaRPr lang="en-US" sz="920" dirty="0"/>
          </a:p>
          <a:p>
            <a:pPr algn="l" indent="0" marL="0">
              <a:lnSpc>
                <a:spcPts val="1518"/>
              </a:lnSpc>
              <a:buNone/>
            </a:pPr>
            <a:r>
              <a:rPr lang="en-US" sz="92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920" dirty="0"/>
          </a:p>
          <a:p>
            <a:pPr algn="l" indent="0" marL="0">
              <a:lnSpc>
                <a:spcPts val="1518"/>
              </a:lnSpc>
              <a:buNone/>
            </a:pPr>
            <a:endParaRPr lang="en-US" sz="920" dirty="0"/>
          </a:p>
          <a:p>
            <a:pPr algn="l" indent="0" marL="0">
              <a:lnSpc>
                <a:spcPts val="1518"/>
              </a:lnSpc>
              <a:buNone/>
            </a:pPr>
            <a:r>
              <a:rPr lang="en-US" sz="92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@Service</a:t>
            </a:r>
            <a:endParaRPr lang="en-US" sz="920" dirty="0"/>
          </a:p>
          <a:p>
            <a:pPr algn="l" indent="0" marL="0">
              <a:lnSpc>
                <a:spcPts val="1518"/>
              </a:lnSpc>
              <a:buNone/>
            </a:pPr>
            <a:r>
              <a:rPr lang="en-US" sz="92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class</a:t>
            </a:r>
            <a:r>
              <a:rPr lang="en-US" sz="92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ProductService {</a:t>
            </a:r>
            <a:endParaRPr lang="en-US" sz="920" dirty="0"/>
          </a:p>
          <a:p>
            <a:pPr algn="l" indent="0" marL="0">
              <a:lnSpc>
                <a:spcPts val="1518"/>
              </a:lnSpc>
              <a:buNone/>
            </a:pPr>
            <a:r>
              <a:rPr lang="en-US" sz="92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92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private final</a:t>
            </a:r>
            <a:r>
              <a:rPr lang="en-US" sz="92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ProductRepository repository;</a:t>
            </a:r>
            <a:endParaRPr lang="en-US" sz="920" dirty="0"/>
          </a:p>
          <a:p>
            <a:pPr algn="l" indent="0" marL="0">
              <a:lnSpc>
                <a:spcPts val="1518"/>
              </a:lnSpc>
              <a:buNone/>
            </a:pPr>
            <a:endParaRPr lang="en-US" sz="920" dirty="0"/>
          </a:p>
          <a:p>
            <a:pPr algn="l" indent="0" marL="0">
              <a:lnSpc>
                <a:spcPts val="1518"/>
              </a:lnSpc>
              <a:buNone/>
            </a:pPr>
            <a:r>
              <a:rPr lang="en-US" sz="92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ProductService(ProductRepository repository) {</a:t>
            </a:r>
            <a:endParaRPr lang="en-US" sz="920" dirty="0"/>
          </a:p>
          <a:p>
            <a:pPr algn="l" indent="0" marL="0">
              <a:lnSpc>
                <a:spcPts val="1518"/>
              </a:lnSpc>
              <a:buNone/>
            </a:pPr>
            <a:r>
              <a:rPr lang="en-US" sz="92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</a:t>
            </a:r>
            <a:r>
              <a:rPr lang="en-US" sz="92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this</a:t>
            </a:r>
            <a:r>
              <a:rPr lang="en-US" sz="92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.repository = repository;</a:t>
            </a:r>
            <a:endParaRPr lang="en-US" sz="920" dirty="0"/>
          </a:p>
          <a:p>
            <a:pPr algn="l" indent="0" marL="0">
              <a:lnSpc>
                <a:spcPts val="1518"/>
              </a:lnSpc>
              <a:buNone/>
            </a:pPr>
            <a:r>
              <a:rPr lang="en-US" sz="92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920" dirty="0"/>
          </a:p>
          <a:p>
            <a:pPr algn="l" indent="0" marL="0">
              <a:lnSpc>
                <a:spcPts val="1518"/>
              </a:lnSpc>
              <a:buNone/>
            </a:pPr>
            <a:endParaRPr lang="en-US" sz="920" dirty="0"/>
          </a:p>
          <a:p>
            <a:pPr algn="l" indent="0" marL="0">
              <a:lnSpc>
                <a:spcPts val="1518"/>
              </a:lnSpc>
              <a:buNone/>
            </a:pPr>
            <a:r>
              <a:rPr lang="en-US" sz="92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92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@Transactional</a:t>
            </a:r>
            <a:endParaRPr lang="en-US" sz="920" dirty="0"/>
          </a:p>
          <a:p>
            <a:pPr algn="l" indent="0" marL="0">
              <a:lnSpc>
                <a:spcPts val="1518"/>
              </a:lnSpc>
              <a:buNone/>
            </a:pPr>
            <a:r>
              <a:rPr lang="en-US" sz="92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92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</a:t>
            </a:r>
            <a:r>
              <a:rPr lang="en-US" sz="92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Product create(ProductRequest req) {</a:t>
            </a:r>
            <a:endParaRPr lang="en-US" sz="920" dirty="0"/>
          </a:p>
          <a:p>
            <a:pPr algn="l" indent="0" marL="0">
              <a:lnSpc>
                <a:spcPts val="1518"/>
              </a:lnSpc>
              <a:buNone/>
            </a:pPr>
            <a:r>
              <a:rPr lang="en-US" sz="92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</a:t>
            </a:r>
            <a:r>
              <a:rPr lang="en-US" sz="92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r>
              <a:rPr lang="en-US" sz="92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repository.save(req.toEntity());</a:t>
            </a:r>
            <a:endParaRPr lang="en-US" sz="920" dirty="0"/>
          </a:p>
          <a:p>
            <a:pPr algn="l" indent="0" marL="0">
              <a:lnSpc>
                <a:spcPts val="1518"/>
              </a:lnSpc>
              <a:buNone/>
            </a:pPr>
            <a:r>
              <a:rPr lang="en-US" sz="92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920" dirty="0"/>
          </a:p>
          <a:p>
            <a:pPr algn="l" indent="0" marL="0">
              <a:lnSpc>
                <a:spcPts val="1518"/>
              </a:lnSpc>
              <a:buNone/>
            </a:pPr>
            <a:r>
              <a:rPr lang="en-US" sz="92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9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E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REST SERVICES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Controlling the Response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587450"/>
            <a:ext cx="9483725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Returning a plain object always sends HTTP 200. Use ResponseEntity when the status code or headers need to vary.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2313831"/>
            <a:ext cx="10566400" cy="3086249"/>
          </a:xfrm>
          <a:prstGeom prst="roundRect">
            <a:avLst>
              <a:gd name="adj" fmla="val 3292"/>
            </a:avLst>
          </a:prstGeom>
          <a:solidFill>
            <a:srgbClr val="101B12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2567831"/>
            <a:ext cx="10360152" cy="1692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88"/>
              </a:lnSpc>
              <a:buNone/>
            </a:pPr>
            <a:r>
              <a:rPr lang="en-US" sz="125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@GetMapping</a:t>
            </a:r>
            <a:r>
              <a:rPr lang="en-US" sz="125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25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"/{id}"</a:t>
            </a:r>
            <a:r>
              <a:rPr lang="en-US" sz="125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50" dirty="0"/>
          </a:p>
          <a:p>
            <a:pPr algn="l" indent="0" marL="0">
              <a:lnSpc>
                <a:spcPts val="2188"/>
              </a:lnSpc>
              <a:buNone/>
            </a:pPr>
            <a:r>
              <a:rPr lang="en-US" sz="125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</a:t>
            </a:r>
            <a:r>
              <a:rPr lang="en-US" sz="125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ResponseEntity&lt;Product&gt; findById(</a:t>
            </a:r>
            <a:r>
              <a:rPr lang="en-US" sz="1250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@PathVariable</a:t>
            </a:r>
            <a:r>
              <a:rPr lang="en-US" sz="125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Long id) {</a:t>
            </a:r>
            <a:endParaRPr lang="en-US" sz="1250" dirty="0"/>
          </a:p>
          <a:p>
            <a:pPr algn="l" indent="0" marL="0">
              <a:lnSpc>
                <a:spcPts val="2188"/>
              </a:lnSpc>
              <a:buNone/>
            </a:pPr>
            <a:r>
              <a:rPr lang="en-US" sz="125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250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r>
              <a:rPr lang="en-US" sz="125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service.find(id)</a:t>
            </a:r>
            <a:endParaRPr lang="en-US" sz="1250" dirty="0"/>
          </a:p>
          <a:p>
            <a:pPr algn="l" indent="0" marL="0">
              <a:lnSpc>
                <a:spcPts val="2188"/>
              </a:lnSpc>
              <a:buNone/>
            </a:pPr>
            <a:r>
              <a:rPr lang="en-US" sz="125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.map(ResponseEntity::ok)</a:t>
            </a:r>
            <a:endParaRPr lang="en-US" sz="1250" dirty="0"/>
          </a:p>
          <a:p>
            <a:pPr algn="l" indent="0" marL="0">
              <a:lnSpc>
                <a:spcPts val="2188"/>
              </a:lnSpc>
              <a:buNone/>
            </a:pPr>
            <a:r>
              <a:rPr lang="en-US" sz="125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.orElseGet(() -&gt; ResponseEntity.notFound().build());</a:t>
            </a:r>
            <a:endParaRPr lang="en-US" sz="1250" dirty="0"/>
          </a:p>
          <a:p>
            <a:pPr algn="l" indent="0" marL="0">
              <a:lnSpc>
                <a:spcPts val="2188"/>
              </a:lnSpc>
              <a:buNone/>
            </a:pPr>
            <a:r>
              <a:rPr lang="en-US" sz="1250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12800" y="56286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 → 200 OK with the product body · Not found → 404 with an empty body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 REST SERVICES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Handling Errors Gracefully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587450"/>
            <a:ext cx="9483725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class turns thrown exceptions into consistent JSON error responses — no try/catch in every controller method.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12800" y="2030661"/>
            <a:ext cx="10566400" cy="3394819"/>
          </a:xfrm>
          <a:prstGeom prst="roundRect">
            <a:avLst>
              <a:gd name="adj" fmla="val 2993"/>
            </a:avLst>
          </a:prstGeom>
          <a:solidFill>
            <a:srgbClr val="101B12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2259261"/>
            <a:ext cx="10412476" cy="2963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2"/>
              </a:lnSpc>
              <a:buNone/>
            </a:pPr>
            <a:r>
              <a:rPr lang="en-US" sz="934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@RestControllerAdvice</a:t>
            </a:r>
            <a:endParaRPr lang="en-US" sz="934" dirty="0"/>
          </a:p>
          <a:p>
            <a:pPr algn="l" indent="0" marL="0">
              <a:lnSpc>
                <a:spcPts val="1542"/>
              </a:lnSpc>
              <a:buNone/>
            </a:pPr>
            <a:r>
              <a:rPr lang="en-US" sz="934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class</a:t>
            </a:r>
            <a:r>
              <a:rPr lang="en-US" sz="934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ApiExceptionHandler {</a:t>
            </a:r>
            <a:endParaRPr lang="en-US" sz="934" dirty="0"/>
          </a:p>
          <a:p>
            <a:pPr algn="l" indent="0" marL="0">
              <a:lnSpc>
                <a:spcPts val="1542"/>
              </a:lnSpc>
              <a:buNone/>
            </a:pPr>
            <a:endParaRPr lang="en-US" sz="934" dirty="0"/>
          </a:p>
          <a:p>
            <a:pPr algn="l" indent="0" marL="0">
              <a:lnSpc>
                <a:spcPts val="1542"/>
              </a:lnSpc>
              <a:buNone/>
            </a:pPr>
            <a:r>
              <a:rPr lang="en-US" sz="934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934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@ExceptionHandler</a:t>
            </a:r>
            <a:r>
              <a:rPr lang="en-US" sz="934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(ProductNotFoundException.</a:t>
            </a:r>
            <a:r>
              <a:rPr lang="en-US" sz="934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</a:t>
            </a:r>
            <a:r>
              <a:rPr lang="en-US" sz="934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934" dirty="0"/>
          </a:p>
          <a:p>
            <a:pPr algn="l" indent="0" marL="0">
              <a:lnSpc>
                <a:spcPts val="1542"/>
              </a:lnSpc>
              <a:buNone/>
            </a:pPr>
            <a:r>
              <a:rPr lang="en-US" sz="934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934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@ResponseStatus</a:t>
            </a:r>
            <a:r>
              <a:rPr lang="en-US" sz="934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(HttpStatus.NOT_FOUND)</a:t>
            </a:r>
            <a:endParaRPr lang="en-US" sz="934" dirty="0"/>
          </a:p>
          <a:p>
            <a:pPr algn="l" indent="0" marL="0">
              <a:lnSpc>
                <a:spcPts val="1542"/>
              </a:lnSpc>
              <a:buNone/>
            </a:pPr>
            <a:r>
              <a:rPr lang="en-US" sz="934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934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</a:t>
            </a:r>
            <a:r>
              <a:rPr lang="en-US" sz="934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ErrorResponse handleNotFound(ProductNotFoundException ex) {</a:t>
            </a:r>
            <a:endParaRPr lang="en-US" sz="934" dirty="0"/>
          </a:p>
          <a:p>
            <a:pPr algn="l" indent="0" marL="0">
              <a:lnSpc>
                <a:spcPts val="1542"/>
              </a:lnSpc>
              <a:buNone/>
            </a:pPr>
            <a:r>
              <a:rPr lang="en-US" sz="934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</a:t>
            </a:r>
            <a:r>
              <a:rPr lang="en-US" sz="934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 new</a:t>
            </a:r>
            <a:r>
              <a:rPr lang="en-US" sz="934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ErrorResponse(</a:t>
            </a:r>
            <a:r>
              <a:rPr lang="en-US" sz="934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"NOT_FOUND"</a:t>
            </a:r>
            <a:r>
              <a:rPr lang="en-US" sz="934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ex.getMessage());</a:t>
            </a:r>
            <a:endParaRPr lang="en-US" sz="934" dirty="0"/>
          </a:p>
          <a:p>
            <a:pPr algn="l" indent="0" marL="0">
              <a:lnSpc>
                <a:spcPts val="1542"/>
              </a:lnSpc>
              <a:buNone/>
            </a:pPr>
            <a:r>
              <a:rPr lang="en-US" sz="934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934" dirty="0"/>
          </a:p>
          <a:p>
            <a:pPr algn="l" indent="0" marL="0">
              <a:lnSpc>
                <a:spcPts val="1542"/>
              </a:lnSpc>
              <a:buNone/>
            </a:pPr>
            <a:endParaRPr lang="en-US" sz="934" dirty="0"/>
          </a:p>
          <a:p>
            <a:pPr algn="l" indent="0" marL="0">
              <a:lnSpc>
                <a:spcPts val="1542"/>
              </a:lnSpc>
              <a:buNone/>
            </a:pPr>
            <a:r>
              <a:rPr lang="en-US" sz="934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934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@ExceptionHandler</a:t>
            </a:r>
            <a:r>
              <a:rPr lang="en-US" sz="934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(MethodArgumentNotValidException.</a:t>
            </a:r>
            <a:r>
              <a:rPr lang="en-US" sz="934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</a:t>
            </a:r>
            <a:r>
              <a:rPr lang="en-US" sz="934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934" dirty="0"/>
          </a:p>
          <a:p>
            <a:pPr algn="l" indent="0" marL="0">
              <a:lnSpc>
                <a:spcPts val="1542"/>
              </a:lnSpc>
              <a:buNone/>
            </a:pPr>
            <a:r>
              <a:rPr lang="en-US" sz="934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934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@ResponseStatus</a:t>
            </a:r>
            <a:r>
              <a:rPr lang="en-US" sz="934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(HttpStatus.BAD_REQUEST)</a:t>
            </a:r>
            <a:endParaRPr lang="en-US" sz="934" dirty="0"/>
          </a:p>
          <a:p>
            <a:pPr algn="l" indent="0" marL="0">
              <a:lnSpc>
                <a:spcPts val="1542"/>
              </a:lnSpc>
              <a:buNone/>
            </a:pPr>
            <a:r>
              <a:rPr lang="en-US" sz="934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934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</a:t>
            </a:r>
            <a:r>
              <a:rPr lang="en-US" sz="934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ErrorResponse handleInvalid(MethodArgumentNotValidException ex) {</a:t>
            </a:r>
            <a:endParaRPr lang="en-US" sz="934" dirty="0"/>
          </a:p>
          <a:p>
            <a:pPr algn="l" indent="0" marL="0">
              <a:lnSpc>
                <a:spcPts val="1542"/>
              </a:lnSpc>
              <a:buNone/>
            </a:pPr>
            <a:r>
              <a:rPr lang="en-US" sz="934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</a:t>
            </a:r>
            <a:r>
              <a:rPr lang="en-US" sz="934" dirty="0">
                <a:solidFill>
                  <a:srgbClr val="8FD1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 new</a:t>
            </a:r>
            <a:r>
              <a:rPr lang="en-US" sz="934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ErrorResponse(</a:t>
            </a:r>
            <a:r>
              <a:rPr lang="en-US" sz="934" dirty="0">
                <a:solidFill>
                  <a:srgbClr val="E8C5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"INVALID_REQUEST"</a:t>
            </a:r>
            <a:r>
              <a:rPr lang="en-US" sz="934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ex.getMessage());</a:t>
            </a:r>
            <a:endParaRPr lang="en-US" sz="934" dirty="0"/>
          </a:p>
          <a:p>
            <a:pPr algn="l" indent="0" marL="0">
              <a:lnSpc>
                <a:spcPts val="1542"/>
              </a:lnSpc>
              <a:buNone/>
            </a:pPr>
            <a:r>
              <a:rPr lang="en-US" sz="934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934" dirty="0"/>
          </a:p>
          <a:p>
            <a:pPr algn="l" indent="0" marL="0">
              <a:lnSpc>
                <a:spcPts val="1542"/>
              </a:lnSpc>
              <a:buNone/>
            </a:pPr>
            <a:r>
              <a:rPr lang="en-US" sz="934" dirty="0">
                <a:solidFill>
                  <a:srgbClr val="E3EFD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934" dirty="0"/>
          </a:p>
        </p:txBody>
      </p:sp>
      <p:sp>
        <p:nvSpPr>
          <p:cNvPr id="7" name="Text 5"/>
          <p:cNvSpPr/>
          <p:nvPr/>
        </p:nvSpPr>
        <p:spPr>
          <a:xfrm>
            <a:off x="812800" y="56286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@RestControllerAdvice</a:t>
            </a:r>
            <a:r>
              <a:rPr lang="en-US" sz="120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applies across every controller in the application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62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22264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FD1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789585"/>
            <a:ext cx="10137775" cy="8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35"/>
              </a:lnSpc>
              <a:buNone/>
            </a:pPr>
            <a:r>
              <a:rPr lang="en-US" sz="2900" b="1" dirty="0">
                <a:solidFill>
                  <a:srgbClr val="F7F8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handful of annotations take you from an empty class to a working, well-behaved REST API.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2800" y="3890615"/>
            <a:ext cx="1701800" cy="441920"/>
          </a:xfrm>
          <a:prstGeom prst="roundRect">
            <a:avLst>
              <a:gd name="adj" fmla="val 17243"/>
            </a:avLst>
          </a:prstGeom>
          <a:solidFill>
            <a:srgbClr val="1E2E23"/>
          </a:solidFill>
          <a:ln/>
        </p:spPr>
      </p:sp>
      <p:sp>
        <p:nvSpPr>
          <p:cNvPr id="5" name="Text 3"/>
          <p:cNvSpPr/>
          <p:nvPr/>
        </p:nvSpPr>
        <p:spPr>
          <a:xfrm>
            <a:off x="977900" y="4004915"/>
            <a:ext cx="142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7D6B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@RestController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92400" y="3890615"/>
            <a:ext cx="2707680" cy="441920"/>
          </a:xfrm>
          <a:prstGeom prst="roundRect">
            <a:avLst>
              <a:gd name="adj" fmla="val 17243"/>
            </a:avLst>
          </a:prstGeom>
          <a:solidFill>
            <a:srgbClr val="1E2E23"/>
          </a:solidFill>
          <a:ln/>
        </p:spPr>
      </p:sp>
      <p:sp>
        <p:nvSpPr>
          <p:cNvPr id="7" name="Text 5"/>
          <p:cNvSpPr/>
          <p:nvPr/>
        </p:nvSpPr>
        <p:spPr>
          <a:xfrm>
            <a:off x="2857500" y="4004915"/>
            <a:ext cx="24488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7D6B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@GetMapping / @PostMapping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80" y="3890615"/>
            <a:ext cx="1427510" cy="441920"/>
          </a:xfrm>
          <a:prstGeom prst="roundRect">
            <a:avLst>
              <a:gd name="adj" fmla="val 17243"/>
            </a:avLst>
          </a:prstGeom>
          <a:solidFill>
            <a:srgbClr val="1E2E23"/>
          </a:solidFill>
          <a:ln/>
        </p:spPr>
      </p:sp>
      <p:sp>
        <p:nvSpPr>
          <p:cNvPr id="9" name="Text 7"/>
          <p:cNvSpPr/>
          <p:nvPr/>
        </p:nvSpPr>
        <p:spPr>
          <a:xfrm>
            <a:off x="5742980" y="4004915"/>
            <a:ext cx="1148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7D6B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@RequestBody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83189" y="3890615"/>
            <a:ext cx="2250480" cy="441920"/>
          </a:xfrm>
          <a:prstGeom prst="roundRect">
            <a:avLst>
              <a:gd name="adj" fmla="val 17243"/>
            </a:avLst>
          </a:prstGeom>
          <a:solidFill>
            <a:srgbClr val="1E2E23"/>
          </a:solidFill>
          <a:ln/>
        </p:spPr>
      </p:sp>
      <p:sp>
        <p:nvSpPr>
          <p:cNvPr id="11" name="Text 9"/>
          <p:cNvSpPr/>
          <p:nvPr/>
        </p:nvSpPr>
        <p:spPr>
          <a:xfrm>
            <a:off x="7348289" y="4004915"/>
            <a:ext cx="19778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7D6B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@RestControllerAdvice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768425"/>
            <a:ext cx="2505075" cy="4070400"/>
          </a:xfrm>
          <a:prstGeom prst="roundRect">
            <a:avLst>
              <a:gd name="adj" fmla="val 4943"/>
            </a:avLst>
          </a:prstGeom>
          <a:solidFill>
            <a:srgbClr val="FFFFFF"/>
          </a:solidFill>
          <a:ln w="6350">
            <a:solidFill>
              <a:srgbClr val="DDE3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000200"/>
            <a:ext cx="210277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7750" y="2373561"/>
            <a:ext cx="210277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Spring solves coupling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7750" y="2675781"/>
            <a:ext cx="2102771" cy="638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IoC and Dependency Injection keep your classes simple, swappable, and testable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05200" y="1768425"/>
            <a:ext cx="2505075" cy="4070400"/>
          </a:xfrm>
          <a:prstGeom prst="roundRect">
            <a:avLst>
              <a:gd name="adj" fmla="val 4943"/>
            </a:avLst>
          </a:prstGeom>
          <a:solidFill>
            <a:srgbClr val="FFFFFF"/>
          </a:solidFill>
          <a:ln w="6350">
            <a:solidFill>
              <a:srgbClr val="DDE3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6975" y="2000200"/>
            <a:ext cx="210277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36975" y="2373561"/>
            <a:ext cx="210277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Annotations are the API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36975" y="2675781"/>
            <a:ext cx="2102771" cy="638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@Component, @Autowired, @Configuration and friends are how you'll talk to Spring daily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94425" y="1768425"/>
            <a:ext cx="2505075" cy="4070400"/>
          </a:xfrm>
          <a:prstGeom prst="roundRect">
            <a:avLst>
              <a:gd name="adj" fmla="val 4943"/>
            </a:avLst>
          </a:prstGeom>
          <a:solidFill>
            <a:srgbClr val="FFFFFF"/>
          </a:solidFill>
          <a:ln w="6350">
            <a:solidFill>
              <a:srgbClr val="DDE3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6200" y="2000200"/>
            <a:ext cx="210277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B8B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26200" y="2373561"/>
            <a:ext cx="210277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Boot removes the setup tax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26200" y="2889101"/>
            <a:ext cx="2102771" cy="638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B5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Starters and auto-configuration get you to running code in minutes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80475" y="1765250"/>
            <a:ext cx="2498725" cy="4076750"/>
          </a:xfrm>
          <a:prstGeom prst="roundRect">
            <a:avLst>
              <a:gd name="adj" fmla="val 5083"/>
            </a:avLst>
          </a:prstGeom>
          <a:solidFill>
            <a:srgbClr val="6DB33F"/>
          </a:solidFill>
          <a:ln/>
        </p:spPr>
      </p:sp>
      <p:sp>
        <p:nvSpPr>
          <p:cNvPr id="17" name="Text 15"/>
          <p:cNvSpPr/>
          <p:nvPr/>
        </p:nvSpPr>
        <p:spPr>
          <a:xfrm>
            <a:off x="9109075" y="1993850"/>
            <a:ext cx="210277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621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09075" y="2367211"/>
            <a:ext cx="210277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1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REST is a few annotations away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09075" y="2882751"/>
            <a:ext cx="2102771" cy="638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C26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@RestController and its mapping annotations turn a service into an API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62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8FD1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12800" y="2907060"/>
            <a:ext cx="10883392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dirty="0">
                <a:solidFill>
                  <a:srgbClr val="F7F8F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Questions?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544582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7D6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Docs: spring.io/projects/spring-framework · spring.io/projects/spring-boot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579631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7D6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Bootstrap a new project: start.spring.io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Spring &amp; Spring Boot</dc:title>
  <dc:subject>PptxGenJS Presentation</dc:subject>
  <dc:creator>PptxGenJS</dc:creator>
  <cp:lastModifiedBy>PptxGenJS</cp:lastModifiedBy>
  <cp:revision>1</cp:revision>
  <dcterms:created xsi:type="dcterms:W3CDTF">2026-09-18T18:03:23Z</dcterms:created>
  <dcterms:modified xsi:type="dcterms:W3CDTF">2026-09-18T18:03:23Z</dcterms:modified>
</cp:coreProperties>
</file>